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EE90E3-9C2C-4512-9A03-15DA714449E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55E5F8-E40D-49F6-AE1E-4AC548D29B65}">
      <dgm:prSet/>
      <dgm:spPr/>
      <dgm:t>
        <a:bodyPr/>
        <a:lstStyle/>
        <a:p>
          <a:pPr>
            <a:defRPr b="1"/>
          </a:pPr>
          <a:r>
            <a:rPr lang="en-US"/>
            <a:t>Intelligence activities are governed</a:t>
          </a:r>
        </a:p>
      </dgm:t>
    </dgm:pt>
    <dgm:pt modelId="{33B458AE-BE8F-49F7-A46E-199F2CCD13C6}" type="parTrans" cxnId="{7E63E698-2C2E-4A36-811C-1C4074E619C0}">
      <dgm:prSet/>
      <dgm:spPr/>
      <dgm:t>
        <a:bodyPr/>
        <a:lstStyle/>
        <a:p>
          <a:endParaRPr lang="en-US"/>
        </a:p>
      </dgm:t>
    </dgm:pt>
    <dgm:pt modelId="{E53E5A53-B25D-4660-85F0-4F251221BEFF}" type="sibTrans" cxnId="{7E63E698-2C2E-4A36-811C-1C4074E619C0}">
      <dgm:prSet/>
      <dgm:spPr/>
      <dgm:t>
        <a:bodyPr/>
        <a:lstStyle/>
        <a:p>
          <a:endParaRPr lang="en-US"/>
        </a:p>
      </dgm:t>
    </dgm:pt>
    <dgm:pt modelId="{00CE7A90-7AAF-4545-B9AF-6FA214DCCDB0}">
      <dgm:prSet/>
      <dgm:spPr/>
      <dgm:t>
        <a:bodyPr/>
        <a:lstStyle/>
        <a:p>
          <a:r>
            <a:rPr lang="en-US"/>
            <a:t>Constitution</a:t>
          </a:r>
        </a:p>
      </dgm:t>
    </dgm:pt>
    <dgm:pt modelId="{50E5EB8A-03DA-4E4B-9F7D-1E8248C1ADAA}" type="parTrans" cxnId="{4F48FAF1-6AE4-4B31-A2E6-F8042C448987}">
      <dgm:prSet/>
      <dgm:spPr/>
      <dgm:t>
        <a:bodyPr/>
        <a:lstStyle/>
        <a:p>
          <a:endParaRPr lang="en-US"/>
        </a:p>
      </dgm:t>
    </dgm:pt>
    <dgm:pt modelId="{D8EDB7E0-3C7A-46A9-A0B1-25693117D119}" type="sibTrans" cxnId="{4F48FAF1-6AE4-4B31-A2E6-F8042C448987}">
      <dgm:prSet/>
      <dgm:spPr/>
      <dgm:t>
        <a:bodyPr/>
        <a:lstStyle/>
        <a:p>
          <a:endParaRPr lang="en-US"/>
        </a:p>
      </dgm:t>
    </dgm:pt>
    <dgm:pt modelId="{7566B5AB-2046-4D43-9FB5-4157E1B9C7B1}">
      <dgm:prSet/>
      <dgm:spPr/>
      <dgm:t>
        <a:bodyPr/>
        <a:lstStyle/>
        <a:p>
          <a:r>
            <a:rPr lang="en-US"/>
            <a:t>Statutes</a:t>
          </a:r>
        </a:p>
      </dgm:t>
    </dgm:pt>
    <dgm:pt modelId="{29881B6C-9BF0-4454-A504-DCCCDAA5C64F}" type="parTrans" cxnId="{18479400-DAFD-4A5E-BC6E-B64CA4066CD5}">
      <dgm:prSet/>
      <dgm:spPr/>
      <dgm:t>
        <a:bodyPr/>
        <a:lstStyle/>
        <a:p>
          <a:endParaRPr lang="en-US"/>
        </a:p>
      </dgm:t>
    </dgm:pt>
    <dgm:pt modelId="{1DD291DC-0E82-458C-8D6D-DD20EBDA75A9}" type="sibTrans" cxnId="{18479400-DAFD-4A5E-BC6E-B64CA4066CD5}">
      <dgm:prSet/>
      <dgm:spPr/>
      <dgm:t>
        <a:bodyPr/>
        <a:lstStyle/>
        <a:p>
          <a:endParaRPr lang="en-US"/>
        </a:p>
      </dgm:t>
    </dgm:pt>
    <dgm:pt modelId="{7DBB2F7F-27BC-49BB-903E-C4F0F4934041}">
      <dgm:prSet/>
      <dgm:spPr/>
      <dgm:t>
        <a:bodyPr/>
        <a:lstStyle/>
        <a:p>
          <a:r>
            <a:rPr lang="en-US"/>
            <a:t>Executive Orders and guidelines</a:t>
          </a:r>
        </a:p>
      </dgm:t>
    </dgm:pt>
    <dgm:pt modelId="{CCDD95D3-763D-4D5F-98E5-66643CE43DF5}" type="parTrans" cxnId="{9C9E7234-1A3E-4376-B950-68FE81D213EA}">
      <dgm:prSet/>
      <dgm:spPr/>
      <dgm:t>
        <a:bodyPr/>
        <a:lstStyle/>
        <a:p>
          <a:endParaRPr lang="en-US"/>
        </a:p>
      </dgm:t>
    </dgm:pt>
    <dgm:pt modelId="{A2A3E5D5-0C3B-4046-A14E-005E27495AFC}" type="sibTrans" cxnId="{9C9E7234-1A3E-4376-B950-68FE81D213EA}">
      <dgm:prSet/>
      <dgm:spPr/>
      <dgm:t>
        <a:bodyPr/>
        <a:lstStyle/>
        <a:p>
          <a:endParaRPr lang="en-US"/>
        </a:p>
      </dgm:t>
    </dgm:pt>
    <dgm:pt modelId="{B48FEE32-4899-45C2-B546-338B3E7F589C}">
      <dgm:prSet/>
      <dgm:spPr/>
      <dgm:t>
        <a:bodyPr/>
        <a:lstStyle/>
        <a:p>
          <a:pPr>
            <a:defRPr b="1"/>
          </a:pPr>
          <a:r>
            <a:rPr lang="en-US"/>
            <a:t>Congressional Oversight</a:t>
          </a:r>
        </a:p>
      </dgm:t>
    </dgm:pt>
    <dgm:pt modelId="{77D76904-DE1E-4450-B143-5DE8C0B87361}" type="parTrans" cxnId="{DACE5638-C9B7-4CB2-9DE1-A743E3234434}">
      <dgm:prSet/>
      <dgm:spPr/>
      <dgm:t>
        <a:bodyPr/>
        <a:lstStyle/>
        <a:p>
          <a:endParaRPr lang="en-US"/>
        </a:p>
      </dgm:t>
    </dgm:pt>
    <dgm:pt modelId="{5DAC3A4C-EFE7-4F52-8C1C-0BFFC554A721}" type="sibTrans" cxnId="{DACE5638-C9B7-4CB2-9DE1-A743E3234434}">
      <dgm:prSet/>
      <dgm:spPr/>
      <dgm:t>
        <a:bodyPr/>
        <a:lstStyle/>
        <a:p>
          <a:endParaRPr lang="en-US"/>
        </a:p>
      </dgm:t>
    </dgm:pt>
    <dgm:pt modelId="{781619BF-11DD-418D-A7E2-280ECDA529CA}">
      <dgm:prSet/>
      <dgm:spPr/>
      <dgm:t>
        <a:bodyPr/>
        <a:lstStyle/>
        <a:p>
          <a:r>
            <a:rPr lang="en-US"/>
            <a:t>Intelligence committees must be fully informed</a:t>
          </a:r>
        </a:p>
      </dgm:t>
    </dgm:pt>
    <dgm:pt modelId="{BBE7485D-0868-4F88-8B8F-FC8F3A65CC4A}" type="parTrans" cxnId="{9CD1ADC0-B125-4B2A-A1D8-B7C0905FBEC2}">
      <dgm:prSet/>
      <dgm:spPr/>
      <dgm:t>
        <a:bodyPr/>
        <a:lstStyle/>
        <a:p>
          <a:endParaRPr lang="en-US"/>
        </a:p>
      </dgm:t>
    </dgm:pt>
    <dgm:pt modelId="{D67CC6BD-FDDF-4E3E-AF67-0C26F456084B}" type="sibTrans" cxnId="{9CD1ADC0-B125-4B2A-A1D8-B7C0905FBEC2}">
      <dgm:prSet/>
      <dgm:spPr/>
      <dgm:t>
        <a:bodyPr/>
        <a:lstStyle/>
        <a:p>
          <a:endParaRPr lang="en-US"/>
        </a:p>
      </dgm:t>
    </dgm:pt>
    <dgm:pt modelId="{2D3BF674-3420-4C03-8418-4B6392DDBA17}">
      <dgm:prSet/>
      <dgm:spPr/>
      <dgm:t>
        <a:bodyPr/>
        <a:lstStyle/>
        <a:p>
          <a:r>
            <a:rPr lang="en-US" dirty="0"/>
            <a:t>May be limited to the Gang of Eight (Rosenbach &amp; Peritz, 2009; 2010)</a:t>
          </a:r>
        </a:p>
      </dgm:t>
    </dgm:pt>
    <dgm:pt modelId="{E6C806BF-234C-40C6-931C-711056DB9A98}" type="parTrans" cxnId="{73656A28-94FD-43AF-983D-635391D961E0}">
      <dgm:prSet/>
      <dgm:spPr/>
      <dgm:t>
        <a:bodyPr/>
        <a:lstStyle/>
        <a:p>
          <a:endParaRPr lang="en-US"/>
        </a:p>
      </dgm:t>
    </dgm:pt>
    <dgm:pt modelId="{AE12AA71-3216-4D2C-8A03-5ADB1489D4C2}" type="sibTrans" cxnId="{73656A28-94FD-43AF-983D-635391D961E0}">
      <dgm:prSet/>
      <dgm:spPr/>
      <dgm:t>
        <a:bodyPr/>
        <a:lstStyle/>
        <a:p>
          <a:endParaRPr lang="en-US"/>
        </a:p>
      </dgm:t>
    </dgm:pt>
    <dgm:pt modelId="{D8D57576-F8AF-4E1E-8A36-123E7D0044A9}">
      <dgm:prSet/>
      <dgm:spPr/>
      <dgm:t>
        <a:bodyPr/>
        <a:lstStyle/>
        <a:p>
          <a:pPr>
            <a:defRPr b="1"/>
          </a:pPr>
          <a:r>
            <a:rPr lang="en-US"/>
            <a:t>Judicial Oversight</a:t>
          </a:r>
        </a:p>
      </dgm:t>
    </dgm:pt>
    <dgm:pt modelId="{F20CC971-11F8-485F-A087-98943F625749}" type="parTrans" cxnId="{08D2E5C4-71D3-4D01-8D78-57015138C7E3}">
      <dgm:prSet/>
      <dgm:spPr/>
      <dgm:t>
        <a:bodyPr/>
        <a:lstStyle/>
        <a:p>
          <a:endParaRPr lang="en-US"/>
        </a:p>
      </dgm:t>
    </dgm:pt>
    <dgm:pt modelId="{FC8D33E5-5B04-44CE-A04D-F50F1A220041}" type="sibTrans" cxnId="{08D2E5C4-71D3-4D01-8D78-57015138C7E3}">
      <dgm:prSet/>
      <dgm:spPr/>
      <dgm:t>
        <a:bodyPr/>
        <a:lstStyle/>
        <a:p>
          <a:endParaRPr lang="en-US"/>
        </a:p>
      </dgm:t>
    </dgm:pt>
    <dgm:pt modelId="{BF26B97E-4A93-4B87-A541-6E8E257B8F6C}">
      <dgm:prSet/>
      <dgm:spPr/>
      <dgm:t>
        <a:bodyPr/>
        <a:lstStyle/>
        <a:p>
          <a:r>
            <a:rPr lang="en-US"/>
            <a:t>Foreign Intelligence Surveillance Court (FISC)</a:t>
          </a:r>
        </a:p>
      </dgm:t>
    </dgm:pt>
    <dgm:pt modelId="{FD8122AC-6930-4DC1-83AF-D71D2CB8335E}" type="parTrans" cxnId="{26A9E3FF-793D-4907-884F-2882296F223F}">
      <dgm:prSet/>
      <dgm:spPr/>
      <dgm:t>
        <a:bodyPr/>
        <a:lstStyle/>
        <a:p>
          <a:endParaRPr lang="en-US"/>
        </a:p>
      </dgm:t>
    </dgm:pt>
    <dgm:pt modelId="{AD65DB67-EEF2-4CA7-83D4-7041FA4AF332}" type="sibTrans" cxnId="{26A9E3FF-793D-4907-884F-2882296F223F}">
      <dgm:prSet/>
      <dgm:spPr/>
      <dgm:t>
        <a:bodyPr/>
        <a:lstStyle/>
        <a:p>
          <a:endParaRPr lang="en-US"/>
        </a:p>
      </dgm:t>
    </dgm:pt>
    <dgm:pt modelId="{5101500C-F76E-4D46-9E0A-52F95750A2E4}" type="pres">
      <dgm:prSet presAssocID="{85EE90E3-9C2C-4512-9A03-15DA714449E2}" presName="root" presStyleCnt="0">
        <dgm:presLayoutVars>
          <dgm:dir/>
          <dgm:resizeHandles val="exact"/>
        </dgm:presLayoutVars>
      </dgm:prSet>
      <dgm:spPr/>
    </dgm:pt>
    <dgm:pt modelId="{8DF8D963-C6E9-4D42-AC70-703E7099B576}" type="pres">
      <dgm:prSet presAssocID="{8155E5F8-E40D-49F6-AE1E-4AC548D29B65}" presName="compNode" presStyleCnt="0"/>
      <dgm:spPr/>
    </dgm:pt>
    <dgm:pt modelId="{6AF159F0-C74C-4104-97E3-76578C165D75}" type="pres">
      <dgm:prSet presAssocID="{8155E5F8-E40D-49F6-AE1E-4AC548D29B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A39AE370-CD53-4ADB-9DF7-940AD4AE772E}" type="pres">
      <dgm:prSet presAssocID="{8155E5F8-E40D-49F6-AE1E-4AC548D29B65}" presName="iconSpace" presStyleCnt="0"/>
      <dgm:spPr/>
    </dgm:pt>
    <dgm:pt modelId="{8E4D50E1-D51C-4F57-848F-B82E15190016}" type="pres">
      <dgm:prSet presAssocID="{8155E5F8-E40D-49F6-AE1E-4AC548D29B65}" presName="parTx" presStyleLbl="revTx" presStyleIdx="0" presStyleCnt="6">
        <dgm:presLayoutVars>
          <dgm:chMax val="0"/>
          <dgm:chPref val="0"/>
        </dgm:presLayoutVars>
      </dgm:prSet>
      <dgm:spPr/>
    </dgm:pt>
    <dgm:pt modelId="{A519D60B-B7FA-4A5A-BEA4-131E3179A459}" type="pres">
      <dgm:prSet presAssocID="{8155E5F8-E40D-49F6-AE1E-4AC548D29B65}" presName="txSpace" presStyleCnt="0"/>
      <dgm:spPr/>
    </dgm:pt>
    <dgm:pt modelId="{FE73FAE7-F8A2-4A19-AFE7-0FB6919FB289}" type="pres">
      <dgm:prSet presAssocID="{8155E5F8-E40D-49F6-AE1E-4AC548D29B65}" presName="desTx" presStyleLbl="revTx" presStyleIdx="1" presStyleCnt="6">
        <dgm:presLayoutVars/>
      </dgm:prSet>
      <dgm:spPr/>
    </dgm:pt>
    <dgm:pt modelId="{EC01BF34-57A1-46B5-BBFE-F991117476BB}" type="pres">
      <dgm:prSet presAssocID="{E53E5A53-B25D-4660-85F0-4F251221BEFF}" presName="sibTrans" presStyleCnt="0"/>
      <dgm:spPr/>
    </dgm:pt>
    <dgm:pt modelId="{5D1D5924-78FA-4D4E-B2C0-A3341CBB0DC9}" type="pres">
      <dgm:prSet presAssocID="{B48FEE32-4899-45C2-B546-338B3E7F589C}" presName="compNode" presStyleCnt="0"/>
      <dgm:spPr/>
    </dgm:pt>
    <dgm:pt modelId="{A9BD6260-4457-4A4A-8B32-11BFF7D22173}" type="pres">
      <dgm:prSet presAssocID="{B48FEE32-4899-45C2-B546-338B3E7F58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CA5EAEAF-3A46-4077-A665-6B317ABF0327}" type="pres">
      <dgm:prSet presAssocID="{B48FEE32-4899-45C2-B546-338B3E7F589C}" presName="iconSpace" presStyleCnt="0"/>
      <dgm:spPr/>
    </dgm:pt>
    <dgm:pt modelId="{4B6AE9CB-3479-49DC-9306-60EF7C4BD755}" type="pres">
      <dgm:prSet presAssocID="{B48FEE32-4899-45C2-B546-338B3E7F589C}" presName="parTx" presStyleLbl="revTx" presStyleIdx="2" presStyleCnt="6">
        <dgm:presLayoutVars>
          <dgm:chMax val="0"/>
          <dgm:chPref val="0"/>
        </dgm:presLayoutVars>
      </dgm:prSet>
      <dgm:spPr/>
    </dgm:pt>
    <dgm:pt modelId="{23DEEB49-0F31-46B5-BC03-8035A39E262F}" type="pres">
      <dgm:prSet presAssocID="{B48FEE32-4899-45C2-B546-338B3E7F589C}" presName="txSpace" presStyleCnt="0"/>
      <dgm:spPr/>
    </dgm:pt>
    <dgm:pt modelId="{FE832F0F-54B0-4CA4-86C6-F651DD9547B1}" type="pres">
      <dgm:prSet presAssocID="{B48FEE32-4899-45C2-B546-338B3E7F589C}" presName="desTx" presStyleLbl="revTx" presStyleIdx="3" presStyleCnt="6">
        <dgm:presLayoutVars/>
      </dgm:prSet>
      <dgm:spPr/>
    </dgm:pt>
    <dgm:pt modelId="{16424102-6482-45CB-ABEB-30AEE40775F9}" type="pres">
      <dgm:prSet presAssocID="{5DAC3A4C-EFE7-4F52-8C1C-0BFFC554A721}" presName="sibTrans" presStyleCnt="0"/>
      <dgm:spPr/>
    </dgm:pt>
    <dgm:pt modelId="{4ECF9BAC-A026-4041-9EBC-D718D6E33BEB}" type="pres">
      <dgm:prSet presAssocID="{D8D57576-F8AF-4E1E-8A36-123E7D0044A9}" presName="compNode" presStyleCnt="0"/>
      <dgm:spPr/>
    </dgm:pt>
    <dgm:pt modelId="{1EB77BA9-C777-49A4-A677-D3571A3D57F9}" type="pres">
      <dgm:prSet presAssocID="{D8D57576-F8AF-4E1E-8A36-123E7D0044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F5387480-2589-48F5-A89B-2979924512EA}" type="pres">
      <dgm:prSet presAssocID="{D8D57576-F8AF-4E1E-8A36-123E7D0044A9}" presName="iconSpace" presStyleCnt="0"/>
      <dgm:spPr/>
    </dgm:pt>
    <dgm:pt modelId="{CF1E625F-B270-42C2-AAC6-7C56742AD70D}" type="pres">
      <dgm:prSet presAssocID="{D8D57576-F8AF-4E1E-8A36-123E7D0044A9}" presName="parTx" presStyleLbl="revTx" presStyleIdx="4" presStyleCnt="6">
        <dgm:presLayoutVars>
          <dgm:chMax val="0"/>
          <dgm:chPref val="0"/>
        </dgm:presLayoutVars>
      </dgm:prSet>
      <dgm:spPr/>
    </dgm:pt>
    <dgm:pt modelId="{47B5042F-74C1-4F10-B488-607025305A7E}" type="pres">
      <dgm:prSet presAssocID="{D8D57576-F8AF-4E1E-8A36-123E7D0044A9}" presName="txSpace" presStyleCnt="0"/>
      <dgm:spPr/>
    </dgm:pt>
    <dgm:pt modelId="{5E205481-B27E-45F2-BE70-56BFA8D65CC5}" type="pres">
      <dgm:prSet presAssocID="{D8D57576-F8AF-4E1E-8A36-123E7D0044A9}" presName="desTx" presStyleLbl="revTx" presStyleIdx="5" presStyleCnt="6">
        <dgm:presLayoutVars/>
      </dgm:prSet>
      <dgm:spPr/>
    </dgm:pt>
  </dgm:ptLst>
  <dgm:cxnLst>
    <dgm:cxn modelId="{18479400-DAFD-4A5E-BC6E-B64CA4066CD5}" srcId="{8155E5F8-E40D-49F6-AE1E-4AC548D29B65}" destId="{7566B5AB-2046-4D43-9FB5-4157E1B9C7B1}" srcOrd="1" destOrd="0" parTransId="{29881B6C-9BF0-4454-A504-DCCCDAA5C64F}" sibTransId="{1DD291DC-0E82-458C-8D6D-DD20EBDA75A9}"/>
    <dgm:cxn modelId="{FC041107-5529-4130-8AA1-CF2C97CAA1CB}" type="presOf" srcId="{B48FEE32-4899-45C2-B546-338B3E7F589C}" destId="{4B6AE9CB-3479-49DC-9306-60EF7C4BD755}" srcOrd="0" destOrd="0" presId="urn:microsoft.com/office/officeart/2018/5/layout/CenteredIconLabelDescriptionList"/>
    <dgm:cxn modelId="{73656A28-94FD-43AF-983D-635391D961E0}" srcId="{B48FEE32-4899-45C2-B546-338B3E7F589C}" destId="{2D3BF674-3420-4C03-8418-4B6392DDBA17}" srcOrd="1" destOrd="0" parTransId="{E6C806BF-234C-40C6-931C-711056DB9A98}" sibTransId="{AE12AA71-3216-4D2C-8A03-5ADB1489D4C2}"/>
    <dgm:cxn modelId="{884B9228-2BB8-4B32-9512-6DD85079FD53}" type="presOf" srcId="{8155E5F8-E40D-49F6-AE1E-4AC548D29B65}" destId="{8E4D50E1-D51C-4F57-848F-B82E15190016}" srcOrd="0" destOrd="0" presId="urn:microsoft.com/office/officeart/2018/5/layout/CenteredIconLabelDescriptionList"/>
    <dgm:cxn modelId="{9C9E7234-1A3E-4376-B950-68FE81D213EA}" srcId="{8155E5F8-E40D-49F6-AE1E-4AC548D29B65}" destId="{7DBB2F7F-27BC-49BB-903E-C4F0F4934041}" srcOrd="2" destOrd="0" parTransId="{CCDD95D3-763D-4D5F-98E5-66643CE43DF5}" sibTransId="{A2A3E5D5-0C3B-4046-A14E-005E27495AFC}"/>
    <dgm:cxn modelId="{DACE5638-C9B7-4CB2-9DE1-A743E3234434}" srcId="{85EE90E3-9C2C-4512-9A03-15DA714449E2}" destId="{B48FEE32-4899-45C2-B546-338B3E7F589C}" srcOrd="1" destOrd="0" parTransId="{77D76904-DE1E-4450-B143-5DE8C0B87361}" sibTransId="{5DAC3A4C-EFE7-4F52-8C1C-0BFFC554A721}"/>
    <dgm:cxn modelId="{1FAE7A67-1208-425D-A596-FD480B2CAAFC}" type="presOf" srcId="{2D3BF674-3420-4C03-8418-4B6392DDBA17}" destId="{FE832F0F-54B0-4CA4-86C6-F651DD9547B1}" srcOrd="0" destOrd="1" presId="urn:microsoft.com/office/officeart/2018/5/layout/CenteredIconLabelDescriptionList"/>
    <dgm:cxn modelId="{C84C374C-9920-46C9-8720-99398934AD56}" type="presOf" srcId="{00CE7A90-7AAF-4545-B9AF-6FA214DCCDB0}" destId="{FE73FAE7-F8A2-4A19-AFE7-0FB6919FB289}" srcOrd="0" destOrd="0" presId="urn:microsoft.com/office/officeart/2018/5/layout/CenteredIconLabelDescriptionList"/>
    <dgm:cxn modelId="{5CAC076E-55D6-4776-B345-53FCDE44E32D}" type="presOf" srcId="{7DBB2F7F-27BC-49BB-903E-C4F0F4934041}" destId="{FE73FAE7-F8A2-4A19-AFE7-0FB6919FB289}" srcOrd="0" destOrd="2" presId="urn:microsoft.com/office/officeart/2018/5/layout/CenteredIconLabelDescriptionList"/>
    <dgm:cxn modelId="{F7FC0874-C892-4FAB-A281-09DDA8BF4DA5}" type="presOf" srcId="{85EE90E3-9C2C-4512-9A03-15DA714449E2}" destId="{5101500C-F76E-4D46-9E0A-52F95750A2E4}" srcOrd="0" destOrd="0" presId="urn:microsoft.com/office/officeart/2018/5/layout/CenteredIconLabelDescriptionList"/>
    <dgm:cxn modelId="{BA92EF8F-A211-4FD2-96E8-0C6A828CFE16}" type="presOf" srcId="{D8D57576-F8AF-4E1E-8A36-123E7D0044A9}" destId="{CF1E625F-B270-42C2-AAC6-7C56742AD70D}" srcOrd="0" destOrd="0" presId="urn:microsoft.com/office/officeart/2018/5/layout/CenteredIconLabelDescriptionList"/>
    <dgm:cxn modelId="{7E63E698-2C2E-4A36-811C-1C4074E619C0}" srcId="{85EE90E3-9C2C-4512-9A03-15DA714449E2}" destId="{8155E5F8-E40D-49F6-AE1E-4AC548D29B65}" srcOrd="0" destOrd="0" parTransId="{33B458AE-BE8F-49F7-A46E-199F2CCD13C6}" sibTransId="{E53E5A53-B25D-4660-85F0-4F251221BEFF}"/>
    <dgm:cxn modelId="{06CA3CBD-6C8A-4EBA-BE9D-F263853C9569}" type="presOf" srcId="{BF26B97E-4A93-4B87-A541-6E8E257B8F6C}" destId="{5E205481-B27E-45F2-BE70-56BFA8D65CC5}" srcOrd="0" destOrd="0" presId="urn:microsoft.com/office/officeart/2018/5/layout/CenteredIconLabelDescriptionList"/>
    <dgm:cxn modelId="{9CD1ADC0-B125-4B2A-A1D8-B7C0905FBEC2}" srcId="{B48FEE32-4899-45C2-B546-338B3E7F589C}" destId="{781619BF-11DD-418D-A7E2-280ECDA529CA}" srcOrd="0" destOrd="0" parTransId="{BBE7485D-0868-4F88-8B8F-FC8F3A65CC4A}" sibTransId="{D67CC6BD-FDDF-4E3E-AF67-0C26F456084B}"/>
    <dgm:cxn modelId="{08D2E5C4-71D3-4D01-8D78-57015138C7E3}" srcId="{85EE90E3-9C2C-4512-9A03-15DA714449E2}" destId="{D8D57576-F8AF-4E1E-8A36-123E7D0044A9}" srcOrd="2" destOrd="0" parTransId="{F20CC971-11F8-485F-A087-98943F625749}" sibTransId="{FC8D33E5-5B04-44CE-A04D-F50F1A220041}"/>
    <dgm:cxn modelId="{4D7F7DE1-F244-40CE-92F2-75ED09CD431C}" type="presOf" srcId="{7566B5AB-2046-4D43-9FB5-4157E1B9C7B1}" destId="{FE73FAE7-F8A2-4A19-AFE7-0FB6919FB289}" srcOrd="0" destOrd="1" presId="urn:microsoft.com/office/officeart/2018/5/layout/CenteredIconLabelDescriptionList"/>
    <dgm:cxn modelId="{4F48FAF1-6AE4-4B31-A2E6-F8042C448987}" srcId="{8155E5F8-E40D-49F6-AE1E-4AC548D29B65}" destId="{00CE7A90-7AAF-4545-B9AF-6FA214DCCDB0}" srcOrd="0" destOrd="0" parTransId="{50E5EB8A-03DA-4E4B-9F7D-1E8248C1ADAA}" sibTransId="{D8EDB7E0-3C7A-46A9-A0B1-25693117D119}"/>
    <dgm:cxn modelId="{F96DA7F4-53D1-4D48-B799-A24B21495B5F}" type="presOf" srcId="{781619BF-11DD-418D-A7E2-280ECDA529CA}" destId="{FE832F0F-54B0-4CA4-86C6-F651DD9547B1}" srcOrd="0" destOrd="0" presId="urn:microsoft.com/office/officeart/2018/5/layout/CenteredIconLabelDescriptionList"/>
    <dgm:cxn modelId="{26A9E3FF-793D-4907-884F-2882296F223F}" srcId="{D8D57576-F8AF-4E1E-8A36-123E7D0044A9}" destId="{BF26B97E-4A93-4B87-A541-6E8E257B8F6C}" srcOrd="0" destOrd="0" parTransId="{FD8122AC-6930-4DC1-83AF-D71D2CB8335E}" sibTransId="{AD65DB67-EEF2-4CA7-83D4-7041FA4AF332}"/>
    <dgm:cxn modelId="{38BD30BC-80E5-4391-95F2-EF99D02DB12E}" type="presParOf" srcId="{5101500C-F76E-4D46-9E0A-52F95750A2E4}" destId="{8DF8D963-C6E9-4D42-AC70-703E7099B576}" srcOrd="0" destOrd="0" presId="urn:microsoft.com/office/officeart/2018/5/layout/CenteredIconLabelDescriptionList"/>
    <dgm:cxn modelId="{A2B7A393-583C-4154-860C-7E7EA3C60EA3}" type="presParOf" srcId="{8DF8D963-C6E9-4D42-AC70-703E7099B576}" destId="{6AF159F0-C74C-4104-97E3-76578C165D75}" srcOrd="0" destOrd="0" presId="urn:microsoft.com/office/officeart/2018/5/layout/CenteredIconLabelDescriptionList"/>
    <dgm:cxn modelId="{34D7406B-6B9A-4F84-8AD5-D2E3D30337F5}" type="presParOf" srcId="{8DF8D963-C6E9-4D42-AC70-703E7099B576}" destId="{A39AE370-CD53-4ADB-9DF7-940AD4AE772E}" srcOrd="1" destOrd="0" presId="urn:microsoft.com/office/officeart/2018/5/layout/CenteredIconLabelDescriptionList"/>
    <dgm:cxn modelId="{EEA2C4B0-99C6-4062-9776-0098B0C69E6B}" type="presParOf" srcId="{8DF8D963-C6E9-4D42-AC70-703E7099B576}" destId="{8E4D50E1-D51C-4F57-848F-B82E15190016}" srcOrd="2" destOrd="0" presId="urn:microsoft.com/office/officeart/2018/5/layout/CenteredIconLabelDescriptionList"/>
    <dgm:cxn modelId="{02D96FFE-2BE7-44F6-A9C8-2F5AF1198A0F}" type="presParOf" srcId="{8DF8D963-C6E9-4D42-AC70-703E7099B576}" destId="{A519D60B-B7FA-4A5A-BEA4-131E3179A459}" srcOrd="3" destOrd="0" presId="urn:microsoft.com/office/officeart/2018/5/layout/CenteredIconLabelDescriptionList"/>
    <dgm:cxn modelId="{81383061-C087-4B03-9973-A86BEEBF5F8E}" type="presParOf" srcId="{8DF8D963-C6E9-4D42-AC70-703E7099B576}" destId="{FE73FAE7-F8A2-4A19-AFE7-0FB6919FB289}" srcOrd="4" destOrd="0" presId="urn:microsoft.com/office/officeart/2018/5/layout/CenteredIconLabelDescriptionList"/>
    <dgm:cxn modelId="{76BA6519-69FA-4736-9B08-AFA69F58D8B7}" type="presParOf" srcId="{5101500C-F76E-4D46-9E0A-52F95750A2E4}" destId="{EC01BF34-57A1-46B5-BBFE-F991117476BB}" srcOrd="1" destOrd="0" presId="urn:microsoft.com/office/officeart/2018/5/layout/CenteredIconLabelDescriptionList"/>
    <dgm:cxn modelId="{B9C88F93-F9CA-4E15-BD9A-CC89A91E36CB}" type="presParOf" srcId="{5101500C-F76E-4D46-9E0A-52F95750A2E4}" destId="{5D1D5924-78FA-4D4E-B2C0-A3341CBB0DC9}" srcOrd="2" destOrd="0" presId="urn:microsoft.com/office/officeart/2018/5/layout/CenteredIconLabelDescriptionList"/>
    <dgm:cxn modelId="{B8E1AEED-3C6C-465A-9A6C-922D6CBF9C53}" type="presParOf" srcId="{5D1D5924-78FA-4D4E-B2C0-A3341CBB0DC9}" destId="{A9BD6260-4457-4A4A-8B32-11BFF7D22173}" srcOrd="0" destOrd="0" presId="urn:microsoft.com/office/officeart/2018/5/layout/CenteredIconLabelDescriptionList"/>
    <dgm:cxn modelId="{B90693B1-C27A-4E6D-8F3B-6107A453B502}" type="presParOf" srcId="{5D1D5924-78FA-4D4E-B2C0-A3341CBB0DC9}" destId="{CA5EAEAF-3A46-4077-A665-6B317ABF0327}" srcOrd="1" destOrd="0" presId="urn:microsoft.com/office/officeart/2018/5/layout/CenteredIconLabelDescriptionList"/>
    <dgm:cxn modelId="{E31B4B17-66B4-4672-AA88-2143FB64C770}" type="presParOf" srcId="{5D1D5924-78FA-4D4E-B2C0-A3341CBB0DC9}" destId="{4B6AE9CB-3479-49DC-9306-60EF7C4BD755}" srcOrd="2" destOrd="0" presId="urn:microsoft.com/office/officeart/2018/5/layout/CenteredIconLabelDescriptionList"/>
    <dgm:cxn modelId="{B446E15B-663F-450C-9D51-3DFEE125DDF4}" type="presParOf" srcId="{5D1D5924-78FA-4D4E-B2C0-A3341CBB0DC9}" destId="{23DEEB49-0F31-46B5-BC03-8035A39E262F}" srcOrd="3" destOrd="0" presId="urn:microsoft.com/office/officeart/2018/5/layout/CenteredIconLabelDescriptionList"/>
    <dgm:cxn modelId="{909C0DA7-02CD-4573-A098-C4A05F09AC44}" type="presParOf" srcId="{5D1D5924-78FA-4D4E-B2C0-A3341CBB0DC9}" destId="{FE832F0F-54B0-4CA4-86C6-F651DD9547B1}" srcOrd="4" destOrd="0" presId="urn:microsoft.com/office/officeart/2018/5/layout/CenteredIconLabelDescriptionList"/>
    <dgm:cxn modelId="{717E9B20-FF72-4354-88D8-E7E4ABCD1900}" type="presParOf" srcId="{5101500C-F76E-4D46-9E0A-52F95750A2E4}" destId="{16424102-6482-45CB-ABEB-30AEE40775F9}" srcOrd="3" destOrd="0" presId="urn:microsoft.com/office/officeart/2018/5/layout/CenteredIconLabelDescriptionList"/>
    <dgm:cxn modelId="{A0B3462F-3B4E-415E-B842-6F1AA6042874}" type="presParOf" srcId="{5101500C-F76E-4D46-9E0A-52F95750A2E4}" destId="{4ECF9BAC-A026-4041-9EBC-D718D6E33BEB}" srcOrd="4" destOrd="0" presId="urn:microsoft.com/office/officeart/2018/5/layout/CenteredIconLabelDescriptionList"/>
    <dgm:cxn modelId="{62439114-E335-4681-BB65-589AECE7BC17}" type="presParOf" srcId="{4ECF9BAC-A026-4041-9EBC-D718D6E33BEB}" destId="{1EB77BA9-C777-49A4-A677-D3571A3D57F9}" srcOrd="0" destOrd="0" presId="urn:microsoft.com/office/officeart/2018/5/layout/CenteredIconLabelDescriptionList"/>
    <dgm:cxn modelId="{32943496-8935-40D3-A197-0A675FE1F400}" type="presParOf" srcId="{4ECF9BAC-A026-4041-9EBC-D718D6E33BEB}" destId="{F5387480-2589-48F5-A89B-2979924512EA}" srcOrd="1" destOrd="0" presId="urn:microsoft.com/office/officeart/2018/5/layout/CenteredIconLabelDescriptionList"/>
    <dgm:cxn modelId="{1C050D94-FBB7-437B-B9EE-61F487A6E3E1}" type="presParOf" srcId="{4ECF9BAC-A026-4041-9EBC-D718D6E33BEB}" destId="{CF1E625F-B270-42C2-AAC6-7C56742AD70D}" srcOrd="2" destOrd="0" presId="urn:microsoft.com/office/officeart/2018/5/layout/CenteredIconLabelDescriptionList"/>
    <dgm:cxn modelId="{5FBB800F-5731-4F88-B321-87AF3019FBFC}" type="presParOf" srcId="{4ECF9BAC-A026-4041-9EBC-D718D6E33BEB}" destId="{47B5042F-74C1-4F10-B488-607025305A7E}" srcOrd="3" destOrd="0" presId="urn:microsoft.com/office/officeart/2018/5/layout/CenteredIconLabelDescriptionList"/>
    <dgm:cxn modelId="{39A4D3F3-F04C-42BA-B781-3D4EEAAAA7D0}" type="presParOf" srcId="{4ECF9BAC-A026-4041-9EBC-D718D6E33BEB}" destId="{5E205481-B27E-45F2-BE70-56BFA8D65CC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7D46AC-4C12-4AB1-A500-68C1EE710057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FE5B96-1026-4A33-9BE4-AB87586174D4}">
      <dgm:prSet/>
      <dgm:spPr/>
      <dgm:t>
        <a:bodyPr/>
        <a:lstStyle/>
        <a:p>
          <a:r>
            <a:rPr lang="en-US" dirty="0"/>
            <a:t>Post 9/11 expansion of surveillance and interrogation authorities.</a:t>
          </a:r>
        </a:p>
      </dgm:t>
    </dgm:pt>
    <dgm:pt modelId="{75C03065-B566-4595-A627-0D3046E3EAD9}" type="parTrans" cxnId="{5A0EBC9A-241D-40FB-B8A2-265C3576792E}">
      <dgm:prSet/>
      <dgm:spPr/>
      <dgm:t>
        <a:bodyPr/>
        <a:lstStyle/>
        <a:p>
          <a:endParaRPr lang="en-US"/>
        </a:p>
      </dgm:t>
    </dgm:pt>
    <dgm:pt modelId="{150B1D1D-4DD3-4A47-9458-A4DB91BE1A95}" type="sibTrans" cxnId="{5A0EBC9A-241D-40FB-B8A2-265C3576792E}">
      <dgm:prSet/>
      <dgm:spPr/>
      <dgm:t>
        <a:bodyPr/>
        <a:lstStyle/>
        <a:p>
          <a:endParaRPr lang="en-US"/>
        </a:p>
      </dgm:t>
    </dgm:pt>
    <dgm:pt modelId="{360C06B8-F3CE-450B-A538-2C514784063A}">
      <dgm:prSet/>
      <dgm:spPr/>
      <dgm:t>
        <a:bodyPr/>
        <a:lstStyle/>
        <a:p>
          <a:r>
            <a:rPr lang="en-US"/>
            <a:t>Ethical</a:t>
          </a:r>
        </a:p>
      </dgm:t>
    </dgm:pt>
    <dgm:pt modelId="{A5D31A85-DE3D-4BFC-BA70-22E079FA8F8C}" type="parTrans" cxnId="{CA4D7D4E-7BCA-40C3-8363-A9198752AB3D}">
      <dgm:prSet/>
      <dgm:spPr/>
      <dgm:t>
        <a:bodyPr/>
        <a:lstStyle/>
        <a:p>
          <a:endParaRPr lang="en-US"/>
        </a:p>
      </dgm:t>
    </dgm:pt>
    <dgm:pt modelId="{CB1239CB-7DBC-4262-8DFF-02EB15D0BD0E}" type="sibTrans" cxnId="{CA4D7D4E-7BCA-40C3-8363-A9198752AB3D}">
      <dgm:prSet/>
      <dgm:spPr/>
      <dgm:t>
        <a:bodyPr/>
        <a:lstStyle/>
        <a:p>
          <a:endParaRPr lang="en-US"/>
        </a:p>
      </dgm:t>
    </dgm:pt>
    <dgm:pt modelId="{D363FB1F-BBFD-4B78-B523-686197F11A6A}">
      <dgm:prSet/>
      <dgm:spPr/>
      <dgm:t>
        <a:bodyPr/>
        <a:lstStyle/>
        <a:p>
          <a:r>
            <a:rPr lang="en-US"/>
            <a:t>Risks of privacy and due process</a:t>
          </a:r>
        </a:p>
      </dgm:t>
    </dgm:pt>
    <dgm:pt modelId="{B572340C-1B65-4BB2-9872-C5C0B43A8B0D}" type="parTrans" cxnId="{FB2F7FDC-6B68-4138-8666-C9DA340451CA}">
      <dgm:prSet/>
      <dgm:spPr/>
      <dgm:t>
        <a:bodyPr/>
        <a:lstStyle/>
        <a:p>
          <a:endParaRPr lang="en-US"/>
        </a:p>
      </dgm:t>
    </dgm:pt>
    <dgm:pt modelId="{B380D28E-2D96-4371-A376-858D30E870B7}" type="sibTrans" cxnId="{FB2F7FDC-6B68-4138-8666-C9DA340451CA}">
      <dgm:prSet/>
      <dgm:spPr/>
      <dgm:t>
        <a:bodyPr/>
        <a:lstStyle/>
        <a:p>
          <a:endParaRPr lang="en-US"/>
        </a:p>
      </dgm:t>
    </dgm:pt>
    <dgm:pt modelId="{A93450DE-9F89-4220-BB2F-01903B850B91}">
      <dgm:prSet/>
      <dgm:spPr/>
      <dgm:t>
        <a:bodyPr/>
        <a:lstStyle/>
        <a:p>
          <a:r>
            <a:rPr lang="en-US"/>
            <a:t>Security effectiveness vs democratic values</a:t>
          </a:r>
        </a:p>
      </dgm:t>
    </dgm:pt>
    <dgm:pt modelId="{12E44EE9-847C-4800-AA03-6178D0643065}" type="parTrans" cxnId="{E098C54C-9D3C-4D16-941F-0D63CFDE6B8B}">
      <dgm:prSet/>
      <dgm:spPr/>
      <dgm:t>
        <a:bodyPr/>
        <a:lstStyle/>
        <a:p>
          <a:endParaRPr lang="en-US"/>
        </a:p>
      </dgm:t>
    </dgm:pt>
    <dgm:pt modelId="{740C9943-267F-4262-833C-1AAAA1D01E00}" type="sibTrans" cxnId="{E098C54C-9D3C-4D16-941F-0D63CFDE6B8B}">
      <dgm:prSet/>
      <dgm:spPr/>
      <dgm:t>
        <a:bodyPr/>
        <a:lstStyle/>
        <a:p>
          <a:endParaRPr lang="en-US"/>
        </a:p>
      </dgm:t>
    </dgm:pt>
    <dgm:pt modelId="{9D704C0A-498E-4F8B-997A-290C841E827B}">
      <dgm:prSet/>
      <dgm:spPr/>
      <dgm:t>
        <a:bodyPr/>
        <a:lstStyle/>
        <a:p>
          <a:r>
            <a:rPr lang="en-US"/>
            <a:t>Legal</a:t>
          </a:r>
        </a:p>
      </dgm:t>
    </dgm:pt>
    <dgm:pt modelId="{F65FBD77-F340-4AE1-AE90-FAAC829E8AE9}" type="parTrans" cxnId="{C85B1A22-11C5-4941-B767-858C8D3F1551}">
      <dgm:prSet/>
      <dgm:spPr/>
      <dgm:t>
        <a:bodyPr/>
        <a:lstStyle/>
        <a:p>
          <a:endParaRPr lang="en-US"/>
        </a:p>
      </dgm:t>
    </dgm:pt>
    <dgm:pt modelId="{939685CE-9F99-4C12-8CB5-F063ECC4F5C0}" type="sibTrans" cxnId="{C85B1A22-11C5-4941-B767-858C8D3F1551}">
      <dgm:prSet/>
      <dgm:spPr/>
      <dgm:t>
        <a:bodyPr/>
        <a:lstStyle/>
        <a:p>
          <a:endParaRPr lang="en-US"/>
        </a:p>
      </dgm:t>
    </dgm:pt>
    <dgm:pt modelId="{81A97E6A-DDAF-43B1-A43C-800C97C77723}">
      <dgm:prSet/>
      <dgm:spPr/>
      <dgm:t>
        <a:bodyPr/>
        <a:lstStyle/>
        <a:p>
          <a:r>
            <a:rPr lang="en-US"/>
            <a:t>Use of enhanced interrogation techniques</a:t>
          </a:r>
        </a:p>
      </dgm:t>
    </dgm:pt>
    <dgm:pt modelId="{AE6092BC-844A-49B9-A99A-AD1A7ABB95EF}" type="parTrans" cxnId="{096EA986-ED36-4CD8-A49D-F53619E23F62}">
      <dgm:prSet/>
      <dgm:spPr/>
      <dgm:t>
        <a:bodyPr/>
        <a:lstStyle/>
        <a:p>
          <a:endParaRPr lang="en-US"/>
        </a:p>
      </dgm:t>
    </dgm:pt>
    <dgm:pt modelId="{0CC195D5-6EAA-4190-8A23-93E9FAA29700}" type="sibTrans" cxnId="{096EA986-ED36-4CD8-A49D-F53619E23F62}">
      <dgm:prSet/>
      <dgm:spPr/>
      <dgm:t>
        <a:bodyPr/>
        <a:lstStyle/>
        <a:p>
          <a:endParaRPr lang="en-US"/>
        </a:p>
      </dgm:t>
    </dgm:pt>
    <dgm:pt modelId="{36757DFE-8C43-435C-AD69-86C79D21A491}">
      <dgm:prSet/>
      <dgm:spPr/>
      <dgm:t>
        <a:bodyPr/>
        <a:lstStyle/>
        <a:p>
          <a:r>
            <a:rPr lang="en-US"/>
            <a:t>Surveillance of U.S. people under FISA (Rosenbach &amp; Peritz, 2010)</a:t>
          </a:r>
        </a:p>
      </dgm:t>
    </dgm:pt>
    <dgm:pt modelId="{B0518D29-1F02-4655-A526-BEA30126F59C}" type="parTrans" cxnId="{762AF8CF-EE14-4F2C-9710-3B7933BB5A76}">
      <dgm:prSet/>
      <dgm:spPr/>
      <dgm:t>
        <a:bodyPr/>
        <a:lstStyle/>
        <a:p>
          <a:endParaRPr lang="en-US"/>
        </a:p>
      </dgm:t>
    </dgm:pt>
    <dgm:pt modelId="{0C77EA12-3A2C-442A-8943-3CDA9936AFBC}" type="sibTrans" cxnId="{762AF8CF-EE14-4F2C-9710-3B7933BB5A76}">
      <dgm:prSet/>
      <dgm:spPr/>
      <dgm:t>
        <a:bodyPr/>
        <a:lstStyle/>
        <a:p>
          <a:endParaRPr lang="en-US"/>
        </a:p>
      </dgm:t>
    </dgm:pt>
    <dgm:pt modelId="{AC266998-92B2-40CF-B12B-C6193B733781}" type="pres">
      <dgm:prSet presAssocID="{8A7D46AC-4C12-4AB1-A500-68C1EE710057}" presName="Name0" presStyleCnt="0">
        <dgm:presLayoutVars>
          <dgm:dir/>
          <dgm:animLvl val="lvl"/>
          <dgm:resizeHandles val="exact"/>
        </dgm:presLayoutVars>
      </dgm:prSet>
      <dgm:spPr/>
    </dgm:pt>
    <dgm:pt modelId="{A293D724-7539-492D-9664-549444FB7E3F}" type="pres">
      <dgm:prSet presAssocID="{D2FE5B96-1026-4A33-9BE4-AB87586174D4}" presName="linNode" presStyleCnt="0"/>
      <dgm:spPr/>
    </dgm:pt>
    <dgm:pt modelId="{378931C8-2B43-43AB-B6F0-CF2F7A2E8E0A}" type="pres">
      <dgm:prSet presAssocID="{D2FE5B96-1026-4A33-9BE4-AB87586174D4}" presName="parentText" presStyleLbl="node1" presStyleIdx="0" presStyleCnt="3" custLinFactNeighborX="0" custLinFactNeighborY="-2725">
        <dgm:presLayoutVars>
          <dgm:chMax val="1"/>
          <dgm:bulletEnabled val="1"/>
        </dgm:presLayoutVars>
      </dgm:prSet>
      <dgm:spPr/>
    </dgm:pt>
    <dgm:pt modelId="{A0B14BF2-20F1-4842-BB39-63E239B3033E}" type="pres">
      <dgm:prSet presAssocID="{150B1D1D-4DD3-4A47-9458-A4DB91BE1A95}" presName="sp" presStyleCnt="0"/>
      <dgm:spPr/>
    </dgm:pt>
    <dgm:pt modelId="{1B25A0C4-D49B-439D-A715-6B032DDF4704}" type="pres">
      <dgm:prSet presAssocID="{360C06B8-F3CE-450B-A538-2C514784063A}" presName="linNode" presStyleCnt="0"/>
      <dgm:spPr/>
    </dgm:pt>
    <dgm:pt modelId="{EE8E76C6-E9EF-4CF8-A4AC-0881A712F87B}" type="pres">
      <dgm:prSet presAssocID="{360C06B8-F3CE-450B-A538-2C514784063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4DC0CB5-06CE-4763-830A-8D447D8DA9B8}" type="pres">
      <dgm:prSet presAssocID="{360C06B8-F3CE-450B-A538-2C514784063A}" presName="descendantText" presStyleLbl="alignAccFollowNode1" presStyleIdx="0" presStyleCnt="2">
        <dgm:presLayoutVars>
          <dgm:bulletEnabled val="1"/>
        </dgm:presLayoutVars>
      </dgm:prSet>
      <dgm:spPr/>
    </dgm:pt>
    <dgm:pt modelId="{CFBF1AB7-2EE7-4553-A52E-DF22DD2DAB29}" type="pres">
      <dgm:prSet presAssocID="{CB1239CB-7DBC-4262-8DFF-02EB15D0BD0E}" presName="sp" presStyleCnt="0"/>
      <dgm:spPr/>
    </dgm:pt>
    <dgm:pt modelId="{379FADE3-90C3-4304-A34D-8B8CC7B64BD5}" type="pres">
      <dgm:prSet presAssocID="{9D704C0A-498E-4F8B-997A-290C841E827B}" presName="linNode" presStyleCnt="0"/>
      <dgm:spPr/>
    </dgm:pt>
    <dgm:pt modelId="{C0C2DB47-D405-4E10-B0CF-6AB6EBA792CC}" type="pres">
      <dgm:prSet presAssocID="{9D704C0A-498E-4F8B-997A-290C841E827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79E86A7-C746-450D-82E4-96717F07BE4B}" type="pres">
      <dgm:prSet presAssocID="{9D704C0A-498E-4F8B-997A-290C841E827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67634F09-2288-44F7-AE73-541F9C1AFB42}" type="presOf" srcId="{8A7D46AC-4C12-4AB1-A500-68C1EE710057}" destId="{AC266998-92B2-40CF-B12B-C6193B733781}" srcOrd="0" destOrd="0" presId="urn:microsoft.com/office/officeart/2005/8/layout/vList5"/>
    <dgm:cxn modelId="{FA96890A-06D4-4568-B1D8-A6B8D3515A24}" type="presOf" srcId="{360C06B8-F3CE-450B-A538-2C514784063A}" destId="{EE8E76C6-E9EF-4CF8-A4AC-0881A712F87B}" srcOrd="0" destOrd="0" presId="urn:microsoft.com/office/officeart/2005/8/layout/vList5"/>
    <dgm:cxn modelId="{CEB7C51D-B823-4095-82C8-E4DC0E93B85A}" type="presOf" srcId="{A93450DE-9F89-4220-BB2F-01903B850B91}" destId="{E4DC0CB5-06CE-4763-830A-8D447D8DA9B8}" srcOrd="0" destOrd="1" presId="urn:microsoft.com/office/officeart/2005/8/layout/vList5"/>
    <dgm:cxn modelId="{C85B1A22-11C5-4941-B767-858C8D3F1551}" srcId="{8A7D46AC-4C12-4AB1-A500-68C1EE710057}" destId="{9D704C0A-498E-4F8B-997A-290C841E827B}" srcOrd="2" destOrd="0" parTransId="{F65FBD77-F340-4AE1-AE90-FAAC829E8AE9}" sibTransId="{939685CE-9F99-4C12-8CB5-F063ECC4F5C0}"/>
    <dgm:cxn modelId="{71B04222-DD91-4AFB-8458-53D1DAB0EB11}" type="presOf" srcId="{D363FB1F-BBFD-4B78-B523-686197F11A6A}" destId="{E4DC0CB5-06CE-4763-830A-8D447D8DA9B8}" srcOrd="0" destOrd="0" presId="urn:microsoft.com/office/officeart/2005/8/layout/vList5"/>
    <dgm:cxn modelId="{4AB4B62A-667E-4B28-A2A0-AFD600400F7A}" type="presOf" srcId="{D2FE5B96-1026-4A33-9BE4-AB87586174D4}" destId="{378931C8-2B43-43AB-B6F0-CF2F7A2E8E0A}" srcOrd="0" destOrd="0" presId="urn:microsoft.com/office/officeart/2005/8/layout/vList5"/>
    <dgm:cxn modelId="{CE318E35-3C04-45B5-AFB3-4367C51C7A69}" type="presOf" srcId="{81A97E6A-DDAF-43B1-A43C-800C97C77723}" destId="{879E86A7-C746-450D-82E4-96717F07BE4B}" srcOrd="0" destOrd="0" presId="urn:microsoft.com/office/officeart/2005/8/layout/vList5"/>
    <dgm:cxn modelId="{E098C54C-9D3C-4D16-941F-0D63CFDE6B8B}" srcId="{360C06B8-F3CE-450B-A538-2C514784063A}" destId="{A93450DE-9F89-4220-BB2F-01903B850B91}" srcOrd="1" destOrd="0" parTransId="{12E44EE9-847C-4800-AA03-6178D0643065}" sibTransId="{740C9943-267F-4262-833C-1AAAA1D01E00}"/>
    <dgm:cxn modelId="{CA4D7D4E-7BCA-40C3-8363-A9198752AB3D}" srcId="{8A7D46AC-4C12-4AB1-A500-68C1EE710057}" destId="{360C06B8-F3CE-450B-A538-2C514784063A}" srcOrd="1" destOrd="0" parTransId="{A5D31A85-DE3D-4BFC-BA70-22E079FA8F8C}" sibTransId="{CB1239CB-7DBC-4262-8DFF-02EB15D0BD0E}"/>
    <dgm:cxn modelId="{096EA986-ED36-4CD8-A49D-F53619E23F62}" srcId="{9D704C0A-498E-4F8B-997A-290C841E827B}" destId="{81A97E6A-DDAF-43B1-A43C-800C97C77723}" srcOrd="0" destOrd="0" parTransId="{AE6092BC-844A-49B9-A99A-AD1A7ABB95EF}" sibTransId="{0CC195D5-6EAA-4190-8A23-93E9FAA29700}"/>
    <dgm:cxn modelId="{5A0EBC9A-241D-40FB-B8A2-265C3576792E}" srcId="{8A7D46AC-4C12-4AB1-A500-68C1EE710057}" destId="{D2FE5B96-1026-4A33-9BE4-AB87586174D4}" srcOrd="0" destOrd="0" parTransId="{75C03065-B566-4595-A627-0D3046E3EAD9}" sibTransId="{150B1D1D-4DD3-4A47-9458-A4DB91BE1A95}"/>
    <dgm:cxn modelId="{E665169E-2E7C-447A-A51B-6338FE2E41D6}" type="presOf" srcId="{36757DFE-8C43-435C-AD69-86C79D21A491}" destId="{879E86A7-C746-450D-82E4-96717F07BE4B}" srcOrd="0" destOrd="1" presId="urn:microsoft.com/office/officeart/2005/8/layout/vList5"/>
    <dgm:cxn modelId="{2D9C19A0-6082-473A-8707-6E9CD5314137}" type="presOf" srcId="{9D704C0A-498E-4F8B-997A-290C841E827B}" destId="{C0C2DB47-D405-4E10-B0CF-6AB6EBA792CC}" srcOrd="0" destOrd="0" presId="urn:microsoft.com/office/officeart/2005/8/layout/vList5"/>
    <dgm:cxn modelId="{762AF8CF-EE14-4F2C-9710-3B7933BB5A76}" srcId="{9D704C0A-498E-4F8B-997A-290C841E827B}" destId="{36757DFE-8C43-435C-AD69-86C79D21A491}" srcOrd="1" destOrd="0" parTransId="{B0518D29-1F02-4655-A526-BEA30126F59C}" sibTransId="{0C77EA12-3A2C-442A-8943-3CDA9936AFBC}"/>
    <dgm:cxn modelId="{FB2F7FDC-6B68-4138-8666-C9DA340451CA}" srcId="{360C06B8-F3CE-450B-A538-2C514784063A}" destId="{D363FB1F-BBFD-4B78-B523-686197F11A6A}" srcOrd="0" destOrd="0" parTransId="{B572340C-1B65-4BB2-9872-C5C0B43A8B0D}" sibTransId="{B380D28E-2D96-4371-A376-858D30E870B7}"/>
    <dgm:cxn modelId="{FC952D59-C3BB-4A4D-9D66-CDA54F8AD4EB}" type="presParOf" srcId="{AC266998-92B2-40CF-B12B-C6193B733781}" destId="{A293D724-7539-492D-9664-549444FB7E3F}" srcOrd="0" destOrd="0" presId="urn:microsoft.com/office/officeart/2005/8/layout/vList5"/>
    <dgm:cxn modelId="{5A8ED40D-4B13-43C0-84A8-130D3F36C1F9}" type="presParOf" srcId="{A293D724-7539-492D-9664-549444FB7E3F}" destId="{378931C8-2B43-43AB-B6F0-CF2F7A2E8E0A}" srcOrd="0" destOrd="0" presId="urn:microsoft.com/office/officeart/2005/8/layout/vList5"/>
    <dgm:cxn modelId="{55D5A62D-DD15-4463-9F4E-6C23F3A3182E}" type="presParOf" srcId="{AC266998-92B2-40CF-B12B-C6193B733781}" destId="{A0B14BF2-20F1-4842-BB39-63E239B3033E}" srcOrd="1" destOrd="0" presId="urn:microsoft.com/office/officeart/2005/8/layout/vList5"/>
    <dgm:cxn modelId="{AE2A1FDB-3AFF-4BDA-B73F-1A2263C363EB}" type="presParOf" srcId="{AC266998-92B2-40CF-B12B-C6193B733781}" destId="{1B25A0C4-D49B-439D-A715-6B032DDF4704}" srcOrd="2" destOrd="0" presId="urn:microsoft.com/office/officeart/2005/8/layout/vList5"/>
    <dgm:cxn modelId="{E6DAA8EC-8038-4004-AE01-BE39E033625E}" type="presParOf" srcId="{1B25A0C4-D49B-439D-A715-6B032DDF4704}" destId="{EE8E76C6-E9EF-4CF8-A4AC-0881A712F87B}" srcOrd="0" destOrd="0" presId="urn:microsoft.com/office/officeart/2005/8/layout/vList5"/>
    <dgm:cxn modelId="{857CC39B-B820-45C9-8E68-D40EFF154E51}" type="presParOf" srcId="{1B25A0C4-D49B-439D-A715-6B032DDF4704}" destId="{E4DC0CB5-06CE-4763-830A-8D447D8DA9B8}" srcOrd="1" destOrd="0" presId="urn:microsoft.com/office/officeart/2005/8/layout/vList5"/>
    <dgm:cxn modelId="{51F275E0-3578-499B-A3D3-59D619835290}" type="presParOf" srcId="{AC266998-92B2-40CF-B12B-C6193B733781}" destId="{CFBF1AB7-2EE7-4553-A52E-DF22DD2DAB29}" srcOrd="3" destOrd="0" presId="urn:microsoft.com/office/officeart/2005/8/layout/vList5"/>
    <dgm:cxn modelId="{09C0B841-A54E-46F3-96E1-CEDD1A5148D7}" type="presParOf" srcId="{AC266998-92B2-40CF-B12B-C6193B733781}" destId="{379FADE3-90C3-4304-A34D-8B8CC7B64BD5}" srcOrd="4" destOrd="0" presId="urn:microsoft.com/office/officeart/2005/8/layout/vList5"/>
    <dgm:cxn modelId="{16FE445F-0255-47CF-A3EA-95AAEDB08CCB}" type="presParOf" srcId="{379FADE3-90C3-4304-A34D-8B8CC7B64BD5}" destId="{C0C2DB47-D405-4E10-B0CF-6AB6EBA792CC}" srcOrd="0" destOrd="0" presId="urn:microsoft.com/office/officeart/2005/8/layout/vList5"/>
    <dgm:cxn modelId="{4604B084-5368-4BC4-9784-614C8BB31AF9}" type="presParOf" srcId="{379FADE3-90C3-4304-A34D-8B8CC7B64BD5}" destId="{879E86A7-C746-450D-82E4-96717F07BE4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159F0-C74C-4104-97E3-76578C165D75}">
      <dsp:nvSpPr>
        <dsp:cNvPr id="0" name=""/>
        <dsp:cNvSpPr/>
      </dsp:nvSpPr>
      <dsp:spPr>
        <a:xfrm>
          <a:off x="1061437" y="799564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D50E1-D51C-4F57-848F-B82E15190016}">
      <dsp:nvSpPr>
        <dsp:cNvPr id="0" name=""/>
        <dsp:cNvSpPr/>
      </dsp:nvSpPr>
      <dsp:spPr>
        <a:xfrm>
          <a:off x="1582" y="205247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Intelligence activities are governed</a:t>
          </a:r>
        </a:p>
      </dsp:txBody>
      <dsp:txXfrm>
        <a:off x="1582" y="2052475"/>
        <a:ext cx="3261093" cy="489164"/>
      </dsp:txXfrm>
    </dsp:sp>
    <dsp:sp modelId="{FE73FAE7-F8A2-4A19-AFE7-0FB6919FB289}">
      <dsp:nvSpPr>
        <dsp:cNvPr id="0" name=""/>
        <dsp:cNvSpPr/>
      </dsp:nvSpPr>
      <dsp:spPr>
        <a:xfrm>
          <a:off x="1582" y="2593513"/>
          <a:ext cx="3261093" cy="799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Constitution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Statutes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Executive Orders and guidelines</a:t>
          </a:r>
        </a:p>
      </dsp:txBody>
      <dsp:txXfrm>
        <a:off x="1582" y="2593513"/>
        <a:ext cx="3261093" cy="799727"/>
      </dsp:txXfrm>
    </dsp:sp>
    <dsp:sp modelId="{A9BD6260-4457-4A4A-8B32-11BFF7D22173}">
      <dsp:nvSpPr>
        <dsp:cNvPr id="0" name=""/>
        <dsp:cNvSpPr/>
      </dsp:nvSpPr>
      <dsp:spPr>
        <a:xfrm>
          <a:off x="4893223" y="799564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AE9CB-3479-49DC-9306-60EF7C4BD755}">
      <dsp:nvSpPr>
        <dsp:cNvPr id="0" name=""/>
        <dsp:cNvSpPr/>
      </dsp:nvSpPr>
      <dsp:spPr>
        <a:xfrm>
          <a:off x="3833367" y="205247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Congressional Oversight</a:t>
          </a:r>
        </a:p>
      </dsp:txBody>
      <dsp:txXfrm>
        <a:off x="3833367" y="2052475"/>
        <a:ext cx="3261093" cy="489164"/>
      </dsp:txXfrm>
    </dsp:sp>
    <dsp:sp modelId="{FE832F0F-54B0-4CA4-86C6-F651DD9547B1}">
      <dsp:nvSpPr>
        <dsp:cNvPr id="0" name=""/>
        <dsp:cNvSpPr/>
      </dsp:nvSpPr>
      <dsp:spPr>
        <a:xfrm>
          <a:off x="3833367" y="2593513"/>
          <a:ext cx="3261093" cy="799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Intelligence committees must be fully informed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May be limited to the Gang of Eight (Rosenbach &amp; Peritz, 2009; 2010)</a:t>
          </a:r>
        </a:p>
      </dsp:txBody>
      <dsp:txXfrm>
        <a:off x="3833367" y="2593513"/>
        <a:ext cx="3261093" cy="799727"/>
      </dsp:txXfrm>
    </dsp:sp>
    <dsp:sp modelId="{1EB77BA9-C777-49A4-A677-D3571A3D57F9}">
      <dsp:nvSpPr>
        <dsp:cNvPr id="0" name=""/>
        <dsp:cNvSpPr/>
      </dsp:nvSpPr>
      <dsp:spPr>
        <a:xfrm>
          <a:off x="8725008" y="799564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E625F-B270-42C2-AAC6-7C56742AD70D}">
      <dsp:nvSpPr>
        <dsp:cNvPr id="0" name=""/>
        <dsp:cNvSpPr/>
      </dsp:nvSpPr>
      <dsp:spPr>
        <a:xfrm>
          <a:off x="7665152" y="2052475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Judicial Oversight</a:t>
          </a:r>
        </a:p>
      </dsp:txBody>
      <dsp:txXfrm>
        <a:off x="7665152" y="2052475"/>
        <a:ext cx="3261093" cy="489164"/>
      </dsp:txXfrm>
    </dsp:sp>
    <dsp:sp modelId="{5E205481-B27E-45F2-BE70-56BFA8D65CC5}">
      <dsp:nvSpPr>
        <dsp:cNvPr id="0" name=""/>
        <dsp:cNvSpPr/>
      </dsp:nvSpPr>
      <dsp:spPr>
        <a:xfrm>
          <a:off x="7665152" y="2593513"/>
          <a:ext cx="3261093" cy="799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Foreign Intelligence Surveillance Court (FISC)</a:t>
          </a:r>
        </a:p>
      </dsp:txBody>
      <dsp:txXfrm>
        <a:off x="7665152" y="2593513"/>
        <a:ext cx="3261093" cy="799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931C8-2B43-43AB-B6F0-CF2F7A2E8E0A}">
      <dsp:nvSpPr>
        <dsp:cNvPr id="0" name=""/>
        <dsp:cNvSpPr/>
      </dsp:nvSpPr>
      <dsp:spPr>
        <a:xfrm>
          <a:off x="0" y="0"/>
          <a:ext cx="3934018" cy="13511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Post 9/11 expansion of surveillance and interrogation authorities.</a:t>
          </a:r>
        </a:p>
      </dsp:txBody>
      <dsp:txXfrm>
        <a:off x="65960" y="65960"/>
        <a:ext cx="3802098" cy="1219276"/>
      </dsp:txXfrm>
    </dsp:sp>
    <dsp:sp modelId="{E4DC0CB5-06CE-4763-830A-8D447D8DA9B8}">
      <dsp:nvSpPr>
        <dsp:cNvPr id="0" name=""/>
        <dsp:cNvSpPr/>
      </dsp:nvSpPr>
      <dsp:spPr>
        <a:xfrm rot="5400000">
          <a:off x="6890444" y="-1400502"/>
          <a:ext cx="1080957" cy="699381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Risks of privacy and due process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Security effectiveness vs democratic values</a:t>
          </a:r>
        </a:p>
      </dsp:txBody>
      <dsp:txXfrm rot="-5400000">
        <a:off x="3934018" y="1608692"/>
        <a:ext cx="6941042" cy="975421"/>
      </dsp:txXfrm>
    </dsp:sp>
    <dsp:sp modelId="{EE8E76C6-E9EF-4CF8-A4AC-0881A712F87B}">
      <dsp:nvSpPr>
        <dsp:cNvPr id="0" name=""/>
        <dsp:cNvSpPr/>
      </dsp:nvSpPr>
      <dsp:spPr>
        <a:xfrm>
          <a:off x="0" y="1420804"/>
          <a:ext cx="3934018" cy="1351196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Ethical</a:t>
          </a:r>
        </a:p>
      </dsp:txBody>
      <dsp:txXfrm>
        <a:off x="65960" y="1486764"/>
        <a:ext cx="3802098" cy="1219276"/>
      </dsp:txXfrm>
    </dsp:sp>
    <dsp:sp modelId="{879E86A7-C746-450D-82E4-96717F07BE4B}">
      <dsp:nvSpPr>
        <dsp:cNvPr id="0" name=""/>
        <dsp:cNvSpPr/>
      </dsp:nvSpPr>
      <dsp:spPr>
        <a:xfrm rot="5400000">
          <a:off x="6890444" y="18253"/>
          <a:ext cx="1080957" cy="6993810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Use of enhanced interrogation techniques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Surveillance of U.S. people under FISA (Rosenbach &amp; Peritz, 2010)</a:t>
          </a:r>
        </a:p>
      </dsp:txBody>
      <dsp:txXfrm rot="-5400000">
        <a:off x="3934018" y="3027447"/>
        <a:ext cx="6941042" cy="975421"/>
      </dsp:txXfrm>
    </dsp:sp>
    <dsp:sp modelId="{C0C2DB47-D405-4E10-B0CF-6AB6EBA792CC}">
      <dsp:nvSpPr>
        <dsp:cNvPr id="0" name=""/>
        <dsp:cNvSpPr/>
      </dsp:nvSpPr>
      <dsp:spPr>
        <a:xfrm>
          <a:off x="0" y="2839560"/>
          <a:ext cx="3934018" cy="135119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Legal</a:t>
          </a:r>
        </a:p>
      </dsp:txBody>
      <dsp:txXfrm>
        <a:off x="65960" y="2905520"/>
        <a:ext cx="3802098" cy="1219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DB01-086C-6B66-24E0-6A4E505EB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93FB5-0E6B-C130-7FEC-3B4BA8C31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258EA-348B-E935-5ABA-FAD7E61F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24E06-FF03-B974-0E32-FC0E5A15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F200-C3B1-5B18-2854-26F7EEAB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1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E66E-0A11-14B6-FD80-EBD5822E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85A5F-82C4-4E67-CA0F-8383A33E7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AB8F9-09E8-D2B4-8E64-BA22E62F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C655A-5F32-CFC4-03A7-91F29BF4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474C4-43EA-0A61-81A6-15820859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9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11A6-FBD1-C5FF-E106-21E9874B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7AD87-7981-2B31-6551-92A604843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49C1B-17F8-2949-62BC-E86C8BAA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33BD5-90F7-C28B-E536-F38FC4C6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8503B-B7E0-C0E6-9E9E-1E5E1C7F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5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3867-8654-ADBF-E15F-3C2D6CCF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856B-3410-3665-CB37-DDAF5F06E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1EC0F-6280-46B1-E6D7-92F143B41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49477-9CF0-0CEF-D8A9-5AF22F04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3CECE-60C5-2C41-00B3-8620B203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33E5E-B356-1A30-2472-67A68426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1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B2DE-8657-5B72-7E9D-B3EC301C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515E1-EE45-CC4A-314B-0AF3556AE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D7D60-3AA7-2189-4FFB-D9D57D9A4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E4E3B7-FC6E-F850-B4FB-0AAB7DCEE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C7BCD1-D97E-5C73-593B-A8035057D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D98FFD-5525-B933-4754-FA81E639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FAEC9-73A1-114C-A036-1FF0B8A9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EEDFB-45AB-F0DE-0ED5-80EB4887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3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A299-BB96-0DA9-6080-AADB9F7A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7F68CC-9725-2D0B-D070-4CA1FAC3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9BE32-200F-8A72-59C5-AC655C2D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FCB3B-EABA-12DC-F917-84518ED7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39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BF855-22D8-67F0-0818-8626A023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72EF8-C72A-90D4-22CD-1E0DE85D8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41102-C0D0-665A-51D5-EA6EBBA0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1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A061-2EB9-9CE0-15BA-A94D42BB3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B1AEB-CBB6-FEED-3527-F5518886B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2FF2A-B7F1-4601-27EA-D1D2C5D62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4DF85-8881-2D10-66DA-3681ED0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2FA60-46D6-F52C-3392-19A60BA6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E1F6C-8AF0-138B-16F9-829F5F7B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0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3D9F-3025-B662-D02F-AE183DA2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A56714-F93F-534D-AD35-DE4CFB697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0E204-4808-6F08-89BB-09B382EE3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42C39-17AE-5832-087A-ACA0F4DE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C881F-7BB9-6DE2-AE21-E10244AC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F4025-EC3D-824D-9B6E-DA1E57EF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8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27D8-156E-643F-8729-2DC5A7B8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82FDD-B17F-9399-25FD-2D633978D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F71A5-8847-40CB-FD7F-2D627FAF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8989E-16A5-4992-A364-3AB2F963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28DC-1DD5-67D8-B9B0-3E6063D1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6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CDE66-9B13-106F-7624-E073CDF9F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B9EAD-ADC4-18BB-6DE7-DD0A1B912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681BB-19BF-6213-A320-78BAEBD4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BC45-9765-C7E4-0CBB-6364CC567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4A679-E376-B81D-85EE-08DD689B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5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0AE2F-7A80-439C-9793-590EAD08E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B2D1C-1C5D-6E65-496D-7B6168ECB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0C6BF-441A-DED0-E5D6-DABCC334A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55E42-7033-4C17-9C7D-01DE1578FA7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3EB0-EF78-66A4-D557-8B1B09F60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7ED5C-6A4F-3756-2B06-57959D453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877FD-9C7D-4BB3-AFE4-405B7942E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9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microsoft.com/office/2007/relationships/media" Target="../media/media3.m4a"/><Relationship Id="rId1" Type="http://schemas.openxmlformats.org/officeDocument/2006/relationships/audio" Target="NULL" TargetMode="Externa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A6381-38BD-1166-8316-DB5F7D65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271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Roles &amp; Responsibilities: CIA &amp; NSA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A8802-546D-CEA0-925D-0A73439B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0094" y="1412489"/>
            <a:ext cx="3484979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Central Intelligence Agency</a:t>
            </a:r>
          </a:p>
          <a:p>
            <a:pPr lvl="1"/>
            <a:r>
              <a:rPr lang="en-US" sz="2000" dirty="0"/>
              <a:t>Conducts foreign intelligence collection/analysis</a:t>
            </a:r>
          </a:p>
          <a:p>
            <a:pPr lvl="1"/>
            <a:r>
              <a:rPr lang="en-US" sz="2000" dirty="0"/>
              <a:t>Covert actions</a:t>
            </a:r>
          </a:p>
          <a:p>
            <a:pPr lvl="1"/>
            <a:r>
              <a:rPr lang="en-US" sz="2000" dirty="0"/>
              <a:t>Primarily U.S. Borders (Rosenbach &amp; Peritz, 2010)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AF3493-9A47-F5BF-904A-A59CAE919622}"/>
              </a:ext>
            </a:extLst>
          </p:cNvPr>
          <p:cNvSpPr txBox="1">
            <a:spLocks/>
          </p:cNvSpPr>
          <p:nvPr/>
        </p:nvSpPr>
        <p:spPr>
          <a:xfrm>
            <a:off x="8451604" y="1412489"/>
            <a:ext cx="3367502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National Security Agency</a:t>
            </a:r>
          </a:p>
          <a:p>
            <a:pPr lvl="1"/>
            <a:r>
              <a:rPr lang="en-US" sz="2000" dirty="0"/>
              <a:t>Signals intelligence collection</a:t>
            </a:r>
          </a:p>
          <a:p>
            <a:pPr lvl="1"/>
            <a:r>
              <a:rPr lang="en-US" sz="2000" dirty="0"/>
              <a:t>Supports counterterrorism/national defense</a:t>
            </a:r>
          </a:p>
          <a:p>
            <a:pPr lvl="1"/>
            <a:r>
              <a:rPr lang="en-US" sz="2000" dirty="0"/>
              <a:t>Can collect on U.S. persons (Rosenbach &amp; Peritz, 2010)</a:t>
            </a:r>
          </a:p>
        </p:txBody>
      </p:sp>
      <p:pic>
        <p:nvPicPr>
          <p:cNvPr id="75" name="Audio 74">
            <a:hlinkClick r:id="" action="ppaction://media"/>
            <a:extLst>
              <a:ext uri="{FF2B5EF4-FFF2-40B4-BE49-F238E27FC236}">
                <a16:creationId xmlns:a16="http://schemas.microsoft.com/office/drawing/2014/main" id="{350D889B-A5ED-F949-6F58-BF84CF6BED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26248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46801"/>
    </mc:Choice>
    <mc:Fallback>
      <p:transition spd="slow" advTm="468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F2C19-A550-7D68-755F-2A5D13EAF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Range of Authority, Oversight and Constraints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585DB240-2A4A-AE53-5D02-F19512EE2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737431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7" name="Audio 86">
            <a:hlinkClick r:id="" action="ppaction://media"/>
            <a:extLst>
              <a:ext uri="{FF2B5EF4-FFF2-40B4-BE49-F238E27FC236}">
                <a16:creationId xmlns:a16="http://schemas.microsoft.com/office/drawing/2014/main" id="{FD46FA76-6C87-DBD7-A0E6-F0927CC307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01261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143"/>
    </mc:Choice>
    <mc:Fallback>
      <p:transition spd="slow" advTm="66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E569C-02FF-BAC2-DE01-2A530396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Ethical &amp; Legal Intelligence Issue – Mass Surveillance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09071D-D528-01F6-A472-5D4F78173F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94988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0" name="Audio 49">
            <a:hlinkClick r:id="" action="ppaction://media"/>
            <a:extLst>
              <a:ext uri="{FF2B5EF4-FFF2-40B4-BE49-F238E27FC236}">
                <a16:creationId xmlns:a16="http://schemas.microsoft.com/office/drawing/2014/main" id="{B7E67DF8-07C0-9C4B-EE11-6209DD9D0B6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5013.9251"/>
                </p14:media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77282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168"/>
    </mc:Choice>
    <mc:Fallback>
      <p:transition spd="slow" advTm="731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765E6-DD6B-E7A9-7D89-0E56F3D05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2041"/>
            <a:ext cx="10515600" cy="4351338"/>
          </a:xfrm>
        </p:spPr>
        <p:txBody>
          <a:bodyPr>
            <a:normAutofit/>
          </a:bodyPr>
          <a:lstStyle/>
          <a:p>
            <a:pPr marL="457200" indent="-457200" algn="ctr">
              <a:lnSpc>
                <a:spcPct val="200000"/>
              </a:lnSpc>
              <a:buNone/>
            </a:pPr>
            <a:r>
              <a:rPr lang="en-US" sz="1800" b="1" dirty="0"/>
              <a:t>References</a:t>
            </a:r>
          </a:p>
          <a:p>
            <a:pPr marL="457200" indent="-457200">
              <a:lnSpc>
                <a:spcPct val="200000"/>
              </a:lnSpc>
              <a:buNone/>
            </a:pPr>
            <a:r>
              <a:rPr lang="en-US" sz="1800" dirty="0"/>
              <a:t>Rosenbach, E. and Peritz, A. (July, 2009). Confrontation or Collaboration? Congress and the Intelligence</a:t>
            </a:r>
          </a:p>
          <a:p>
            <a:pPr marL="457200" indent="-457200">
              <a:lnSpc>
                <a:spcPct val="200000"/>
              </a:lnSpc>
              <a:buNone/>
            </a:pPr>
            <a:r>
              <a:rPr lang="en-US" sz="1800" dirty="0"/>
              <a:t>	Community. Cambridge, MA: Report for Belfer Center for Science and International Affairs, Harvard Kennedy School.</a:t>
            </a:r>
          </a:p>
          <a:p>
            <a:pPr marL="457200" indent="-457200">
              <a:lnSpc>
                <a:spcPct val="200000"/>
              </a:lnSpc>
              <a:buNone/>
            </a:pPr>
            <a:r>
              <a:rPr lang="en-US" sz="1800" dirty="0"/>
              <a:t>Rosenbach, E. and Peritz, A. (2010). Trials by Fire – Counterterrorism and the Law. Cambridge, MA: Report for Belfer Center for Science and International Affairs, Harvard Kennedy School.</a:t>
            </a:r>
          </a:p>
          <a:p>
            <a:endParaRPr lang="en-US" dirty="0"/>
          </a:p>
        </p:txBody>
      </p:sp>
      <p:pic>
        <p:nvPicPr>
          <p:cNvPr id="39" name="Audio 38">
            <a:hlinkClick r:id="" action="ppaction://media"/>
            <a:extLst>
              <a:ext uri="{FF2B5EF4-FFF2-40B4-BE49-F238E27FC236}">
                <a16:creationId xmlns:a16="http://schemas.microsoft.com/office/drawing/2014/main" id="{174136D2-479C-9E87-2E65-CACFF7D32C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78550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52"/>
    </mc:Choice>
    <mc:Fallback>
      <p:transition spd="slow" advTm="85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242</Words>
  <Application>Microsoft Office PowerPoint</Application>
  <PresentationFormat>Widescreen</PresentationFormat>
  <Paragraphs>31</Paragraphs>
  <Slides>4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Roles &amp; Responsibilities: CIA &amp; NSA</vt:lpstr>
      <vt:lpstr>Range of Authority, Oversight and Constraints</vt:lpstr>
      <vt:lpstr>Ethical &amp; Legal Intelligence Issue – Mass Surveillance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James Vander Mooren</dc:creator>
  <cp:lastModifiedBy>Tyler James Vander Mooren</cp:lastModifiedBy>
  <cp:revision>9</cp:revision>
  <dcterms:created xsi:type="dcterms:W3CDTF">2026-01-15T17:18:28Z</dcterms:created>
  <dcterms:modified xsi:type="dcterms:W3CDTF">2026-01-15T18:36:41Z</dcterms:modified>
</cp:coreProperties>
</file>