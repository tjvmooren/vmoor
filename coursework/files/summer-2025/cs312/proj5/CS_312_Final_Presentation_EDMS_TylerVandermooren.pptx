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72" r:id="rId9"/>
    <p:sldId id="261" r:id="rId10"/>
    <p:sldId id="273" r:id="rId11"/>
    <p:sldId id="269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3366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CD2"/>
          </a:solidFill>
        </a:fill>
      </a:tcStyle>
    </a:wholeTbl>
    <a:band2H>
      <a:tcTxStyle/>
      <a:tcStyle>
        <a:tcBdr/>
        <a:fill>
          <a:solidFill>
            <a:srgbClr val="E6E7E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336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336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3366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D5CB"/>
          </a:solidFill>
        </a:fill>
      </a:tcStyle>
    </a:wholeTbl>
    <a:band2H>
      <a:tcTxStyle/>
      <a:tcStyle>
        <a:tcBdr/>
        <a:fill>
          <a:solidFill>
            <a:srgbClr val="FDEB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4"/>
          </a:solidFill>
        </a:fill>
      </a:tcStyle>
    </a:wholeTbl>
    <a:band2H>
      <a:tcTxStyle/>
      <a:tcStyle>
        <a:tcBdr/>
        <a:fill>
          <a:solidFill>
            <a:srgbClr val="E6EAF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ECA"/>
          </a:solidFill>
        </a:fill>
      </a:tcStyle>
    </a:wholeTbl>
    <a:band2H>
      <a:tcTxStyle/>
      <a:tcStyle>
        <a:tcBdr/>
        <a:fill>
          <a:solidFill>
            <a:srgbClr val="FFF7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7EA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3366"/>
        </a:fontRef>
        <a:srgbClr val="0033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3366"/>
              </a:solidFill>
              <a:prstDash val="solid"/>
              <a:round/>
            </a:ln>
          </a:top>
          <a:bottom>
            <a:ln w="254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3366"/>
              </a:solidFill>
              <a:prstDash val="solid"/>
              <a:round/>
            </a:ln>
          </a:top>
          <a:bottom>
            <a:ln w="254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003366"/>
              </a:solidFill>
              <a:prstDash val="solid"/>
              <a:round/>
            </a:ln>
          </a:left>
          <a:right>
            <a:ln w="12700" cap="flat">
              <a:solidFill>
                <a:srgbClr val="003366"/>
              </a:solidFill>
              <a:prstDash val="solid"/>
              <a:round/>
            </a:ln>
          </a:right>
          <a:top>
            <a:ln w="12700" cap="flat">
              <a:solidFill>
                <a:srgbClr val="003366"/>
              </a:solidFill>
              <a:prstDash val="solid"/>
              <a:round/>
            </a:ln>
          </a:top>
          <a:bottom>
            <a:ln w="127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solidFill>
                <a:srgbClr val="003366"/>
              </a:solidFill>
              <a:prstDash val="solid"/>
              <a:round/>
            </a:ln>
          </a:insideH>
          <a:insideV>
            <a:ln w="12700" cap="flat">
              <a:solidFill>
                <a:srgbClr val="003366"/>
              </a:solidFill>
              <a:prstDash val="solid"/>
              <a:round/>
            </a:ln>
          </a:insideV>
        </a:tcBdr>
        <a:fill>
          <a:solidFill>
            <a:srgbClr val="00336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003366"/>
              </a:solidFill>
              <a:prstDash val="solid"/>
              <a:round/>
            </a:ln>
          </a:left>
          <a:right>
            <a:ln w="12700" cap="flat">
              <a:solidFill>
                <a:srgbClr val="003366"/>
              </a:solidFill>
              <a:prstDash val="solid"/>
              <a:round/>
            </a:ln>
          </a:right>
          <a:top>
            <a:ln w="12700" cap="flat">
              <a:solidFill>
                <a:srgbClr val="003366"/>
              </a:solidFill>
              <a:prstDash val="solid"/>
              <a:round/>
            </a:ln>
          </a:top>
          <a:bottom>
            <a:ln w="127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solidFill>
                <a:srgbClr val="003366"/>
              </a:solidFill>
              <a:prstDash val="solid"/>
              <a:round/>
            </a:ln>
          </a:insideH>
          <a:insideV>
            <a:ln w="12700" cap="flat">
              <a:solidFill>
                <a:srgbClr val="003366"/>
              </a:solidFill>
              <a:prstDash val="solid"/>
              <a:round/>
            </a:ln>
          </a:insideV>
        </a:tcBdr>
        <a:fill>
          <a:solidFill>
            <a:srgbClr val="003366">
              <a:alpha val="20000"/>
            </a:srgbClr>
          </a:solidFill>
        </a:fill>
      </a:tcStyle>
    </a:firstCol>
    <a:lastRow>
      <a:tcTxStyle b="on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003366"/>
              </a:solidFill>
              <a:prstDash val="solid"/>
              <a:round/>
            </a:ln>
          </a:left>
          <a:right>
            <a:ln w="12700" cap="flat">
              <a:solidFill>
                <a:srgbClr val="003366"/>
              </a:solidFill>
              <a:prstDash val="solid"/>
              <a:round/>
            </a:ln>
          </a:right>
          <a:top>
            <a:ln w="50800" cap="flat">
              <a:solidFill>
                <a:srgbClr val="003366"/>
              </a:solidFill>
              <a:prstDash val="solid"/>
              <a:round/>
            </a:ln>
          </a:top>
          <a:bottom>
            <a:ln w="127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solidFill>
                <a:srgbClr val="003366"/>
              </a:solidFill>
              <a:prstDash val="solid"/>
              <a:round/>
            </a:ln>
          </a:insideH>
          <a:insideV>
            <a:ln w="12700" cap="flat">
              <a:solidFill>
                <a:srgbClr val="00336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3366"/>
        </a:fontRef>
        <a:srgbClr val="003366"/>
      </a:tcTxStyle>
      <a:tcStyle>
        <a:tcBdr>
          <a:left>
            <a:ln w="12700" cap="flat">
              <a:solidFill>
                <a:srgbClr val="003366"/>
              </a:solidFill>
              <a:prstDash val="solid"/>
              <a:round/>
            </a:ln>
          </a:left>
          <a:right>
            <a:ln w="12700" cap="flat">
              <a:solidFill>
                <a:srgbClr val="003366"/>
              </a:solidFill>
              <a:prstDash val="solid"/>
              <a:round/>
            </a:ln>
          </a:right>
          <a:top>
            <a:ln w="12700" cap="flat">
              <a:solidFill>
                <a:srgbClr val="003366"/>
              </a:solidFill>
              <a:prstDash val="solid"/>
              <a:round/>
            </a:ln>
          </a:top>
          <a:bottom>
            <a:ln w="25400" cap="flat">
              <a:solidFill>
                <a:srgbClr val="003366"/>
              </a:solidFill>
              <a:prstDash val="solid"/>
              <a:round/>
            </a:ln>
          </a:bottom>
          <a:insideH>
            <a:ln w="12700" cap="flat">
              <a:solidFill>
                <a:srgbClr val="003366"/>
              </a:solidFill>
              <a:prstDash val="solid"/>
              <a:round/>
            </a:ln>
          </a:insideH>
          <a:insideV>
            <a:ln w="12700" cap="flat">
              <a:solidFill>
                <a:srgbClr val="003366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5"/>
    <p:restoredTop sz="94719"/>
  </p:normalViewPr>
  <p:slideViewPr>
    <p:cSldViewPr snapToGrid="0">
      <p:cViewPr varScale="1">
        <p:scale>
          <a:sx n="105" d="100"/>
          <a:sy n="105" d="100"/>
        </p:scale>
        <p:origin x="10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003366"/>
        </a:solidFill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/>
          <p:nvPr/>
        </p:nvSpPr>
        <p:spPr>
          <a:xfrm>
            <a:off x="-101205" y="-55564"/>
            <a:ext cx="12345593" cy="7122319"/>
          </a:xfrm>
          <a:prstGeom prst="rect">
            <a:avLst/>
          </a:prstGeom>
          <a:solidFill>
            <a:srgbClr val="182A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HEADER"/>
          <p:cNvSpPr txBox="1">
            <a:spLocks noGrp="1"/>
          </p:cNvSpPr>
          <p:nvPr>
            <p:ph type="title" hasCustomPrompt="1"/>
          </p:nvPr>
        </p:nvSpPr>
        <p:spPr>
          <a:xfrm>
            <a:off x="1523999" y="1563290"/>
            <a:ext cx="9144001" cy="183515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t>HEADER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3999" y="3410346"/>
            <a:ext cx="9144001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Subheader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02" y="6054090"/>
            <a:ext cx="7452995" cy="36322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5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667462" cy="9790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831850" y="550405"/>
            <a:ext cx="10515600" cy="2852738"/>
          </a:xfrm>
          <a:prstGeom prst="rect">
            <a:avLst/>
          </a:prstGeom>
        </p:spPr>
        <p:txBody>
          <a:bodyPr anchor="t"/>
          <a:lstStyle>
            <a:lvl1pPr>
              <a:defRPr sz="6000">
                <a:solidFill>
                  <a:srgbClr val="0033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3430130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D9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D9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D9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D9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D9E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3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02" y="6054090"/>
            <a:ext cx="7452995" cy="36322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4"/>
            <a:ext cx="5181600" cy="42629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46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6464300"/>
            <a:ext cx="11353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839787" y="2635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579562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chemeClr val="accent3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chemeClr val="accent3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chemeClr val="accent3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chemeClr val="accent3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579562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chemeClr val="accent3"/>
                </a:solidFill>
              </a:defRPr>
            </a:pPr>
            <a:r>
              <a:rPr lang="en-US"/>
              <a:t>Click to edit Master text styles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5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02" y="6054090"/>
            <a:ext cx="7452995" cy="36322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65761" y="627865"/>
            <a:ext cx="4548530" cy="8239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6299723" y="635486"/>
            <a:ext cx="4546579" cy="823913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2400" b="1"/>
            </a:pPr>
            <a:r>
              <a:rPr lang="en-US"/>
              <a:t>Click to edit Master text styles</a:t>
            </a:r>
          </a:p>
        </p:txBody>
      </p:sp>
      <p:sp>
        <p:nvSpPr>
          <p:cNvPr id="86" name="Picture Placeholder 30"/>
          <p:cNvSpPr>
            <a:spLocks noGrp="1"/>
          </p:cNvSpPr>
          <p:nvPr>
            <p:ph type="pic" sz="quarter" idx="22"/>
          </p:nvPr>
        </p:nvSpPr>
        <p:spPr>
          <a:xfrm>
            <a:off x="1465761" y="1566484"/>
            <a:ext cx="4548530" cy="30213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7" name="Picture Placeholder 30"/>
          <p:cNvSpPr>
            <a:spLocks noGrp="1"/>
          </p:cNvSpPr>
          <p:nvPr>
            <p:ph type="pic" sz="quarter" idx="23"/>
          </p:nvPr>
        </p:nvSpPr>
        <p:spPr>
          <a:xfrm>
            <a:off x="6299722" y="1566484"/>
            <a:ext cx="4548530" cy="30213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8" name="Picture Placeholder 33"/>
          <p:cNvSpPr>
            <a:spLocks noGrp="1"/>
          </p:cNvSpPr>
          <p:nvPr>
            <p:ph type="pic" sz="quarter" idx="24"/>
          </p:nvPr>
        </p:nvSpPr>
        <p:spPr>
          <a:xfrm>
            <a:off x="1465761" y="4702586"/>
            <a:ext cx="2208168" cy="14938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9" name="Picture Placeholder 33"/>
          <p:cNvSpPr>
            <a:spLocks noGrp="1"/>
          </p:cNvSpPr>
          <p:nvPr>
            <p:ph type="pic" sz="quarter" idx="25"/>
          </p:nvPr>
        </p:nvSpPr>
        <p:spPr>
          <a:xfrm>
            <a:off x="3806123" y="4702586"/>
            <a:ext cx="2208168" cy="14938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0" name="Picture Placeholder 33"/>
          <p:cNvSpPr>
            <a:spLocks noGrp="1"/>
          </p:cNvSpPr>
          <p:nvPr>
            <p:ph type="pic" sz="quarter" idx="26"/>
          </p:nvPr>
        </p:nvSpPr>
        <p:spPr>
          <a:xfrm>
            <a:off x="6297772" y="4702586"/>
            <a:ext cx="2208168" cy="14938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1" name="Picture Placeholder 33"/>
          <p:cNvSpPr>
            <a:spLocks noGrp="1"/>
          </p:cNvSpPr>
          <p:nvPr>
            <p:ph type="pic" sz="quarter" idx="27"/>
          </p:nvPr>
        </p:nvSpPr>
        <p:spPr>
          <a:xfrm>
            <a:off x="8638133" y="4702586"/>
            <a:ext cx="2208168" cy="14938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pic>
        <p:nvPicPr>
          <p:cNvPr id="92" name="Picture 21" descr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7600" y="6464300"/>
            <a:ext cx="5994400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icture 22" descr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944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 algn="l">
              <a:defRPr sz="32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9673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97349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en-US"/>
              <a:t>Click to edit Master text styles</a:t>
            </a:r>
          </a:p>
        </p:txBody>
      </p:sp>
      <p:pic>
        <p:nvPicPr>
          <p:cNvPr id="104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94400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6464300"/>
            <a:ext cx="11353801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 algn="l">
              <a:defRPr sz="32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7275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65760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116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197600" y="6464300"/>
            <a:ext cx="5994400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" y="0"/>
            <a:ext cx="11353801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79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F8B7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3466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onsa.pl/wiki/Proble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2"/>
          <p:cNvSpPr txBox="1">
            <a:spLocks noGrp="1"/>
          </p:cNvSpPr>
          <p:nvPr>
            <p:ph type="ctrTitle"/>
          </p:nvPr>
        </p:nvSpPr>
        <p:spPr>
          <a:xfrm>
            <a:off x="1524000" y="1960399"/>
            <a:ext cx="9144000" cy="10239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EDMS – Employee Data Management System</a:t>
            </a:r>
            <a:endParaRPr dirty="0"/>
          </a:p>
        </p:txBody>
      </p:sp>
      <p:sp>
        <p:nvSpPr>
          <p:cNvPr id="128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1523999" y="4059936"/>
            <a:ext cx="9144001" cy="209851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Team Members:</a:t>
            </a:r>
          </a:p>
          <a:p>
            <a:r>
              <a:rPr lang="en-US" dirty="0"/>
              <a:t>1. Tyler Vander Mooren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AA3721-C441-1D5B-E5D9-233E1E8E6DB4}"/>
              </a:ext>
            </a:extLst>
          </p:cNvPr>
          <p:cNvSpPr txBox="1">
            <a:spLocks/>
          </p:cNvSpPr>
          <p:nvPr/>
        </p:nvSpPr>
        <p:spPr>
          <a:xfrm>
            <a:off x="1524000" y="809749"/>
            <a:ext cx="9144000" cy="102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t">
            <a:normAutofit/>
          </a:bodyPr>
          <a:lstStyle>
            <a:lvl1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rgbClr val="F8B7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CS 312 Group Project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64"/>
            <a:ext cx="11353800" cy="124460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itle 3"/>
          <p:cNvSpPr txBox="1">
            <a:spLocks noGrp="1"/>
          </p:cNvSpPr>
          <p:nvPr>
            <p:ph type="title"/>
          </p:nvPr>
        </p:nvSpPr>
        <p:spPr>
          <a:xfrm>
            <a:off x="838200" y="372158"/>
            <a:ext cx="10515600" cy="979015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dirty="0"/>
              <a:t>Agenda</a:t>
            </a:r>
          </a:p>
        </p:txBody>
      </p:sp>
      <p:grpSp>
        <p:nvGrpSpPr>
          <p:cNvPr id="144" name="Google Shape;750;p16"/>
          <p:cNvGrpSpPr/>
          <p:nvPr/>
        </p:nvGrpSpPr>
        <p:grpSpPr>
          <a:xfrm>
            <a:off x="3260673" y="4754489"/>
            <a:ext cx="5670655" cy="882912"/>
            <a:chOff x="34" y="34"/>
            <a:chExt cx="5670653" cy="1069985"/>
          </a:xfrm>
        </p:grpSpPr>
        <p:sp>
          <p:nvSpPr>
            <p:cNvPr id="132" name="Google Shape;751;p16"/>
            <p:cNvSpPr/>
            <p:nvPr/>
          </p:nvSpPr>
          <p:spPr>
            <a:xfrm>
              <a:off x="22328" y="141215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000000">
                <a:alpha val="329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3" name="Google Shape;752;p16"/>
            <p:cNvSpPr/>
            <p:nvPr/>
          </p:nvSpPr>
          <p:spPr>
            <a:xfrm>
              <a:off x="34" y="120419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4" name="Google Shape;753;p16"/>
            <p:cNvSpPr/>
            <p:nvPr/>
          </p:nvSpPr>
          <p:spPr>
            <a:xfrm>
              <a:off x="439248" y="34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4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5" name="Google Shape;754;p16"/>
            <p:cNvSpPr/>
            <p:nvPr/>
          </p:nvSpPr>
          <p:spPr>
            <a:xfrm>
              <a:off x="83834" y="951131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6" name="Google Shape;755;p16"/>
            <p:cNvSpPr/>
            <p:nvPr/>
          </p:nvSpPr>
          <p:spPr>
            <a:xfrm>
              <a:off x="133761" y="951131"/>
              <a:ext cx="731906" cy="59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2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020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7" name="Google Shape;756;p16"/>
            <p:cNvSpPr/>
            <p:nvPr/>
          </p:nvSpPr>
          <p:spPr>
            <a:xfrm>
              <a:off x="551513" y="59460"/>
              <a:ext cx="754199" cy="59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rgbClr val="2020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40" name="Google Shape;757;p16"/>
            <p:cNvGrpSpPr/>
            <p:nvPr/>
          </p:nvGrpSpPr>
          <p:grpSpPr>
            <a:xfrm>
              <a:off x="182058" y="59460"/>
              <a:ext cx="1071647" cy="951096"/>
              <a:chOff x="0" y="0"/>
              <a:chExt cx="1071645" cy="951094"/>
            </a:xfrm>
          </p:grpSpPr>
          <p:sp>
            <p:nvSpPr>
              <p:cNvPr id="138" name="Shape"/>
              <p:cNvSpPr/>
              <p:nvPr/>
            </p:nvSpPr>
            <p:spPr>
              <a:xfrm>
                <a:off x="0" y="0"/>
                <a:ext cx="1071646" cy="95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0" y="21600"/>
                    </a:lnTo>
                    <a:lnTo>
                      <a:pt x="18122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4949E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39" name="04"/>
              <p:cNvSpPr txBox="1"/>
              <p:nvPr/>
            </p:nvSpPr>
            <p:spPr>
              <a:xfrm>
                <a:off x="0" y="44765"/>
                <a:ext cx="1071646" cy="861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t>04</a:t>
                </a:r>
              </a:p>
            </p:txBody>
          </p:sp>
        </p:grpSp>
        <p:sp>
          <p:nvSpPr>
            <p:cNvPr id="142" name="Google Shape;760;p16"/>
            <p:cNvSpPr txBox="1"/>
            <p:nvPr/>
          </p:nvSpPr>
          <p:spPr>
            <a:xfrm>
              <a:off x="1504618" y="308667"/>
              <a:ext cx="4004503" cy="497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>
                <a:defRPr sz="1700" b="1">
                  <a:solidFill>
                    <a:srgbClr val="434343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Challenges and Solutions</a:t>
              </a:r>
              <a:endParaRPr dirty="0"/>
            </a:p>
          </p:txBody>
        </p:sp>
      </p:grpSp>
      <p:grpSp>
        <p:nvGrpSpPr>
          <p:cNvPr id="157" name="Google Shape;761;p16"/>
          <p:cNvGrpSpPr/>
          <p:nvPr/>
        </p:nvGrpSpPr>
        <p:grpSpPr>
          <a:xfrm>
            <a:off x="3260673" y="3623120"/>
            <a:ext cx="5670655" cy="882569"/>
            <a:chOff x="34" y="34"/>
            <a:chExt cx="5670653" cy="1069569"/>
          </a:xfrm>
        </p:grpSpPr>
        <p:sp>
          <p:nvSpPr>
            <p:cNvPr id="145" name="Google Shape;762;p16"/>
            <p:cNvSpPr/>
            <p:nvPr/>
          </p:nvSpPr>
          <p:spPr>
            <a:xfrm>
              <a:off x="22328" y="141215"/>
              <a:ext cx="5648359" cy="831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86"/>
                    <a:pt x="0" y="2894"/>
                  </a:cubicBezTo>
                  <a:lnTo>
                    <a:pt x="0" y="18705"/>
                  </a:lnTo>
                  <a:cubicBezTo>
                    <a:pt x="0" y="2031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13"/>
                    <a:pt x="21600" y="18705"/>
                  </a:cubicBezTo>
                  <a:lnTo>
                    <a:pt x="21600" y="2894"/>
                  </a:lnTo>
                  <a:cubicBezTo>
                    <a:pt x="21600" y="128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000000">
                <a:alpha val="329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6" name="Google Shape;763;p16"/>
            <p:cNvSpPr/>
            <p:nvPr/>
          </p:nvSpPr>
          <p:spPr>
            <a:xfrm>
              <a:off x="34" y="118922"/>
              <a:ext cx="5648359" cy="831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86"/>
                    <a:pt x="0" y="2894"/>
                  </a:cubicBezTo>
                  <a:lnTo>
                    <a:pt x="0" y="18705"/>
                  </a:lnTo>
                  <a:cubicBezTo>
                    <a:pt x="0" y="2031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13"/>
                    <a:pt x="21600" y="18705"/>
                  </a:cubicBezTo>
                  <a:lnTo>
                    <a:pt x="21600" y="2894"/>
                  </a:lnTo>
                  <a:cubicBezTo>
                    <a:pt x="21600" y="128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7" name="Google Shape;764;p16"/>
            <p:cNvSpPr/>
            <p:nvPr/>
          </p:nvSpPr>
          <p:spPr>
            <a:xfrm>
              <a:off x="439248" y="34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4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489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8" name="Google Shape;765;p16"/>
            <p:cNvSpPr/>
            <p:nvPr/>
          </p:nvSpPr>
          <p:spPr>
            <a:xfrm>
              <a:off x="83834" y="950716"/>
              <a:ext cx="920552" cy="118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489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9" name="Google Shape;766;p16"/>
            <p:cNvSpPr/>
            <p:nvPr/>
          </p:nvSpPr>
          <p:spPr>
            <a:xfrm>
              <a:off x="133761" y="950716"/>
              <a:ext cx="731906" cy="59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2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6282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0" name="Google Shape;767;p16"/>
            <p:cNvSpPr/>
            <p:nvPr/>
          </p:nvSpPr>
          <p:spPr>
            <a:xfrm>
              <a:off x="551513" y="59460"/>
              <a:ext cx="754199" cy="59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rgbClr val="C6282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53" name="Google Shape;768;p16"/>
            <p:cNvGrpSpPr/>
            <p:nvPr/>
          </p:nvGrpSpPr>
          <p:grpSpPr>
            <a:xfrm>
              <a:off x="182058" y="59460"/>
              <a:ext cx="1071647" cy="950680"/>
              <a:chOff x="0" y="0"/>
              <a:chExt cx="1071645" cy="950679"/>
            </a:xfrm>
          </p:grpSpPr>
          <p:sp>
            <p:nvSpPr>
              <p:cNvPr id="151" name="Shape"/>
              <p:cNvSpPr/>
              <p:nvPr/>
            </p:nvSpPr>
            <p:spPr>
              <a:xfrm>
                <a:off x="0" y="0"/>
                <a:ext cx="1071646" cy="9506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0" y="21600"/>
                    </a:lnTo>
                    <a:lnTo>
                      <a:pt x="18122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C3A3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52" name="03"/>
              <p:cNvSpPr txBox="1"/>
              <p:nvPr/>
            </p:nvSpPr>
            <p:spPr>
              <a:xfrm>
                <a:off x="0" y="44557"/>
                <a:ext cx="1071646" cy="861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sp>
          <p:nvSpPr>
            <p:cNvPr id="155" name="Google Shape;771;p16"/>
            <p:cNvSpPr txBox="1"/>
            <p:nvPr/>
          </p:nvSpPr>
          <p:spPr>
            <a:xfrm>
              <a:off x="1504618" y="286148"/>
              <a:ext cx="4004503" cy="497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>
                <a:defRPr sz="1700" b="1">
                  <a:solidFill>
                    <a:srgbClr val="434343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Phase - 1 and Phase - 2 Deliverables</a:t>
              </a:r>
              <a:endParaRPr dirty="0"/>
            </a:p>
          </p:txBody>
        </p:sp>
      </p:grpSp>
      <p:grpSp>
        <p:nvGrpSpPr>
          <p:cNvPr id="170" name="Google Shape;772;p16"/>
          <p:cNvGrpSpPr/>
          <p:nvPr/>
        </p:nvGrpSpPr>
        <p:grpSpPr>
          <a:xfrm>
            <a:off x="3260673" y="2591222"/>
            <a:ext cx="5670655" cy="882913"/>
            <a:chOff x="34" y="34"/>
            <a:chExt cx="5670653" cy="1069985"/>
          </a:xfrm>
        </p:grpSpPr>
        <p:sp>
          <p:nvSpPr>
            <p:cNvPr id="158" name="Google Shape;773;p16"/>
            <p:cNvSpPr/>
            <p:nvPr/>
          </p:nvSpPr>
          <p:spPr>
            <a:xfrm>
              <a:off x="22328" y="141215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000000">
                <a:alpha val="329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9" name="Google Shape;774;p16"/>
            <p:cNvSpPr/>
            <p:nvPr/>
          </p:nvSpPr>
          <p:spPr>
            <a:xfrm>
              <a:off x="34" y="118921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0" name="Google Shape;775;p16"/>
            <p:cNvSpPr/>
            <p:nvPr/>
          </p:nvSpPr>
          <p:spPr>
            <a:xfrm>
              <a:off x="439248" y="34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4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DD77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1" name="Google Shape;776;p16"/>
            <p:cNvSpPr/>
            <p:nvPr/>
          </p:nvSpPr>
          <p:spPr>
            <a:xfrm>
              <a:off x="83834" y="951131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DD77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2" name="Google Shape;777;p16"/>
            <p:cNvSpPr/>
            <p:nvPr/>
          </p:nvSpPr>
          <p:spPr>
            <a:xfrm>
              <a:off x="133761" y="951131"/>
              <a:ext cx="731906" cy="59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2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0921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3" name="Google Shape;778;p16"/>
            <p:cNvSpPr/>
            <p:nvPr/>
          </p:nvSpPr>
          <p:spPr>
            <a:xfrm>
              <a:off x="551513" y="59460"/>
              <a:ext cx="754199" cy="59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rgbClr val="E0921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66" name="Google Shape;779;p16"/>
            <p:cNvGrpSpPr/>
            <p:nvPr/>
          </p:nvGrpSpPr>
          <p:grpSpPr>
            <a:xfrm>
              <a:off x="182058" y="59460"/>
              <a:ext cx="1071647" cy="951096"/>
              <a:chOff x="0" y="0"/>
              <a:chExt cx="1071645" cy="951094"/>
            </a:xfrm>
          </p:grpSpPr>
          <p:sp>
            <p:nvSpPr>
              <p:cNvPr id="164" name="Shape"/>
              <p:cNvSpPr/>
              <p:nvPr/>
            </p:nvSpPr>
            <p:spPr>
              <a:xfrm>
                <a:off x="0" y="0"/>
                <a:ext cx="1071646" cy="95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0" y="21600"/>
                    </a:lnTo>
                    <a:lnTo>
                      <a:pt x="18122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CBD2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65" name="02"/>
              <p:cNvSpPr txBox="1"/>
              <p:nvPr/>
            </p:nvSpPr>
            <p:spPr>
              <a:xfrm>
                <a:off x="0" y="44765"/>
                <a:ext cx="1071646" cy="861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t>02</a:t>
                </a:r>
              </a:p>
            </p:txBody>
          </p:sp>
        </p:grpSp>
        <p:sp>
          <p:nvSpPr>
            <p:cNvPr id="168" name="Google Shape;782;p16"/>
            <p:cNvSpPr txBox="1"/>
            <p:nvPr/>
          </p:nvSpPr>
          <p:spPr>
            <a:xfrm>
              <a:off x="1504618" y="286355"/>
              <a:ext cx="4004503" cy="497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>
                <a:defRPr sz="1700" b="1">
                  <a:solidFill>
                    <a:srgbClr val="434343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Project Components</a:t>
              </a:r>
              <a:endParaRPr dirty="0"/>
            </a:p>
          </p:txBody>
        </p:sp>
      </p:grpSp>
      <p:grpSp>
        <p:nvGrpSpPr>
          <p:cNvPr id="183" name="Google Shape;783;p16"/>
          <p:cNvGrpSpPr/>
          <p:nvPr/>
        </p:nvGrpSpPr>
        <p:grpSpPr>
          <a:xfrm>
            <a:off x="3260673" y="1550934"/>
            <a:ext cx="5670655" cy="882914"/>
            <a:chOff x="34" y="34"/>
            <a:chExt cx="5670653" cy="1069986"/>
          </a:xfrm>
        </p:grpSpPr>
        <p:sp>
          <p:nvSpPr>
            <p:cNvPr id="171" name="Google Shape;784;p16"/>
            <p:cNvSpPr/>
            <p:nvPr/>
          </p:nvSpPr>
          <p:spPr>
            <a:xfrm>
              <a:off x="22328" y="141215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7"/>
                    <a:pt x="0" y="2893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3"/>
                  </a:lnTo>
                  <a:cubicBezTo>
                    <a:pt x="21600" y="1297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000000">
                <a:alpha val="329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2" name="Google Shape;785;p16"/>
            <p:cNvSpPr/>
            <p:nvPr/>
          </p:nvSpPr>
          <p:spPr>
            <a:xfrm>
              <a:off x="34" y="118922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7"/>
                    <a:pt x="0" y="2893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3"/>
                  </a:lnTo>
                  <a:cubicBezTo>
                    <a:pt x="21600" y="1297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3" name="Google Shape;786;p16"/>
            <p:cNvSpPr/>
            <p:nvPr/>
          </p:nvSpPr>
          <p:spPr>
            <a:xfrm>
              <a:off x="439248" y="34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4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5F1B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4" name="Google Shape;787;p16"/>
            <p:cNvSpPr/>
            <p:nvPr/>
          </p:nvSpPr>
          <p:spPr>
            <a:xfrm>
              <a:off x="83834" y="951132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A5F1B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5" name="Google Shape;788;p16"/>
            <p:cNvSpPr/>
            <p:nvPr/>
          </p:nvSpPr>
          <p:spPr>
            <a:xfrm>
              <a:off x="133761" y="951132"/>
              <a:ext cx="731906" cy="59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2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FC94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6" name="Google Shape;789;p16"/>
            <p:cNvSpPr/>
            <p:nvPr/>
          </p:nvSpPr>
          <p:spPr>
            <a:xfrm>
              <a:off x="551513" y="59460"/>
              <a:ext cx="754199" cy="59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rgbClr val="2FC94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79" name="Google Shape;790;p16"/>
            <p:cNvGrpSpPr/>
            <p:nvPr/>
          </p:nvGrpSpPr>
          <p:grpSpPr>
            <a:xfrm>
              <a:off x="182058" y="59460"/>
              <a:ext cx="1071647" cy="951096"/>
              <a:chOff x="0" y="0"/>
              <a:chExt cx="1071645" cy="951094"/>
            </a:xfrm>
          </p:grpSpPr>
          <p:sp>
            <p:nvSpPr>
              <p:cNvPr id="177" name="Shape"/>
              <p:cNvSpPr/>
              <p:nvPr/>
            </p:nvSpPr>
            <p:spPr>
              <a:xfrm>
                <a:off x="0" y="0"/>
                <a:ext cx="1071646" cy="95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0" y="21600"/>
                    </a:lnTo>
                    <a:lnTo>
                      <a:pt x="18122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69E78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78" name="01"/>
              <p:cNvSpPr txBox="1"/>
              <p:nvPr/>
            </p:nvSpPr>
            <p:spPr>
              <a:xfrm>
                <a:off x="0" y="44765"/>
                <a:ext cx="1071646" cy="8615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dirty="0"/>
                  <a:t>01</a:t>
                </a:r>
              </a:p>
            </p:txBody>
          </p:sp>
        </p:grpSp>
        <p:sp>
          <p:nvSpPr>
            <p:cNvPr id="181" name="Google Shape;793;p16"/>
            <p:cNvSpPr txBox="1"/>
            <p:nvPr/>
          </p:nvSpPr>
          <p:spPr>
            <a:xfrm>
              <a:off x="1504618" y="308666"/>
              <a:ext cx="4004503" cy="497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>
                <a:defRPr sz="1700" b="1">
                  <a:solidFill>
                    <a:srgbClr val="434343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Problem Statement &amp; Idea</a:t>
              </a:r>
              <a:endParaRPr dirty="0"/>
            </a:p>
          </p:txBody>
        </p:sp>
      </p:grpSp>
      <p:grpSp>
        <p:nvGrpSpPr>
          <p:cNvPr id="2" name="Google Shape;750;p16">
            <a:extLst>
              <a:ext uri="{FF2B5EF4-FFF2-40B4-BE49-F238E27FC236}">
                <a16:creationId xmlns:a16="http://schemas.microsoft.com/office/drawing/2014/main" id="{DECC86D3-5DB8-0473-9E74-1483361846E4}"/>
              </a:ext>
            </a:extLst>
          </p:cNvPr>
          <p:cNvGrpSpPr/>
          <p:nvPr/>
        </p:nvGrpSpPr>
        <p:grpSpPr>
          <a:xfrm>
            <a:off x="3282967" y="5815192"/>
            <a:ext cx="5670655" cy="882912"/>
            <a:chOff x="34" y="34"/>
            <a:chExt cx="5670653" cy="1069985"/>
          </a:xfrm>
        </p:grpSpPr>
        <p:sp>
          <p:nvSpPr>
            <p:cNvPr id="3" name="Google Shape;751;p16">
              <a:extLst>
                <a:ext uri="{FF2B5EF4-FFF2-40B4-BE49-F238E27FC236}">
                  <a16:creationId xmlns:a16="http://schemas.microsoft.com/office/drawing/2014/main" id="{37D0BB39-9C70-0E00-A14F-A4C049FE6550}"/>
                </a:ext>
              </a:extLst>
            </p:cNvPr>
            <p:cNvSpPr/>
            <p:nvPr/>
          </p:nvSpPr>
          <p:spPr>
            <a:xfrm>
              <a:off x="22328" y="141215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000000">
                <a:alpha val="329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" name="Google Shape;752;p16">
              <a:extLst>
                <a:ext uri="{FF2B5EF4-FFF2-40B4-BE49-F238E27FC236}">
                  <a16:creationId xmlns:a16="http://schemas.microsoft.com/office/drawing/2014/main" id="{50911033-2EDD-0CF3-6CE7-4E596FCB1FB8}"/>
                </a:ext>
              </a:extLst>
            </p:cNvPr>
            <p:cNvSpPr/>
            <p:nvPr/>
          </p:nvSpPr>
          <p:spPr>
            <a:xfrm>
              <a:off x="34" y="120419"/>
              <a:ext cx="5648359" cy="832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6" y="0"/>
                  </a:moveTo>
                  <a:cubicBezTo>
                    <a:pt x="191" y="0"/>
                    <a:pt x="0" y="1296"/>
                    <a:pt x="0" y="2892"/>
                  </a:cubicBezTo>
                  <a:lnTo>
                    <a:pt x="0" y="18707"/>
                  </a:lnTo>
                  <a:cubicBezTo>
                    <a:pt x="0" y="20303"/>
                    <a:pt x="191" y="21600"/>
                    <a:pt x="426" y="21600"/>
                  </a:cubicBezTo>
                  <a:lnTo>
                    <a:pt x="21174" y="21600"/>
                  </a:lnTo>
                  <a:cubicBezTo>
                    <a:pt x="21409" y="21600"/>
                    <a:pt x="21600" y="20303"/>
                    <a:pt x="21600" y="18707"/>
                  </a:cubicBezTo>
                  <a:lnTo>
                    <a:pt x="21600" y="2892"/>
                  </a:lnTo>
                  <a:cubicBezTo>
                    <a:pt x="21600" y="1296"/>
                    <a:pt x="21409" y="0"/>
                    <a:pt x="21174" y="0"/>
                  </a:cubicBezTo>
                  <a:close/>
                </a:path>
              </a:pathLst>
            </a:cu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" name="Google Shape;753;p16">
              <a:extLst>
                <a:ext uri="{FF2B5EF4-FFF2-40B4-BE49-F238E27FC236}">
                  <a16:creationId xmlns:a16="http://schemas.microsoft.com/office/drawing/2014/main" id="{BD2BB49B-A08A-E98F-A08F-55237B0783FF}"/>
                </a:ext>
              </a:extLst>
            </p:cNvPr>
            <p:cNvSpPr/>
            <p:nvPr/>
          </p:nvSpPr>
          <p:spPr>
            <a:xfrm>
              <a:off x="439248" y="34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4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030A0">
                <a:alpha val="6297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Google Shape;754;p16">
              <a:extLst>
                <a:ext uri="{FF2B5EF4-FFF2-40B4-BE49-F238E27FC236}">
                  <a16:creationId xmlns:a16="http://schemas.microsoft.com/office/drawing/2014/main" id="{E8948A80-393D-E5A7-F60A-63969C4E4805}"/>
                </a:ext>
              </a:extLst>
            </p:cNvPr>
            <p:cNvSpPr/>
            <p:nvPr/>
          </p:nvSpPr>
          <p:spPr>
            <a:xfrm>
              <a:off x="83834" y="951131"/>
              <a:ext cx="920552" cy="11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" y="0"/>
                  </a:moveTo>
                  <a:lnTo>
                    <a:pt x="0" y="21600"/>
                  </a:lnTo>
                  <a:lnTo>
                    <a:pt x="2108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7030A0">
                <a:alpha val="62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" name="Google Shape;755;p16">
              <a:extLst>
                <a:ext uri="{FF2B5EF4-FFF2-40B4-BE49-F238E27FC236}">
                  <a16:creationId xmlns:a16="http://schemas.microsoft.com/office/drawing/2014/main" id="{D29406A3-443D-86F7-5583-38901A36FC04}"/>
                </a:ext>
              </a:extLst>
            </p:cNvPr>
            <p:cNvSpPr/>
            <p:nvPr/>
          </p:nvSpPr>
          <p:spPr>
            <a:xfrm>
              <a:off x="133761" y="951131"/>
              <a:ext cx="731906" cy="59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42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020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" name="Google Shape;756;p16">
              <a:extLst>
                <a:ext uri="{FF2B5EF4-FFF2-40B4-BE49-F238E27FC236}">
                  <a16:creationId xmlns:a16="http://schemas.microsoft.com/office/drawing/2014/main" id="{BB08812B-ED7A-7624-7722-AB84CD7C9203}"/>
                </a:ext>
              </a:extLst>
            </p:cNvPr>
            <p:cNvSpPr/>
            <p:nvPr/>
          </p:nvSpPr>
          <p:spPr>
            <a:xfrm>
              <a:off x="551513" y="59460"/>
              <a:ext cx="754199" cy="59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rgbClr val="2020B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9" name="Google Shape;757;p16">
              <a:extLst>
                <a:ext uri="{FF2B5EF4-FFF2-40B4-BE49-F238E27FC236}">
                  <a16:creationId xmlns:a16="http://schemas.microsoft.com/office/drawing/2014/main" id="{58D39294-BFC7-DDF4-2430-5D41450205BB}"/>
                </a:ext>
              </a:extLst>
            </p:cNvPr>
            <p:cNvGrpSpPr/>
            <p:nvPr/>
          </p:nvGrpSpPr>
          <p:grpSpPr>
            <a:xfrm>
              <a:off x="182058" y="59460"/>
              <a:ext cx="1071647" cy="951096"/>
              <a:chOff x="0" y="0"/>
              <a:chExt cx="1071645" cy="951094"/>
            </a:xfrm>
          </p:grpSpPr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9F746634-EC46-B3AC-04AE-B337BDF3CAD9}"/>
                  </a:ext>
                </a:extLst>
              </p:cNvPr>
              <p:cNvSpPr/>
              <p:nvPr/>
            </p:nvSpPr>
            <p:spPr>
              <a:xfrm>
                <a:off x="0" y="0"/>
                <a:ext cx="1071646" cy="95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0" y="21600"/>
                    </a:lnTo>
                    <a:lnTo>
                      <a:pt x="18122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12" name="04">
                <a:extLst>
                  <a:ext uri="{FF2B5EF4-FFF2-40B4-BE49-F238E27FC236}">
                    <a16:creationId xmlns:a16="http://schemas.microsoft.com/office/drawing/2014/main" id="{49FAD2BC-DEBF-9DFF-CB93-72724758EEDA}"/>
                  </a:ext>
                </a:extLst>
              </p:cNvPr>
              <p:cNvSpPr txBox="1"/>
              <p:nvPr/>
            </p:nvSpPr>
            <p:spPr>
              <a:xfrm>
                <a:off x="0" y="44765"/>
                <a:ext cx="1071646" cy="861599"/>
              </a:xfrm>
              <a:prstGeom prst="rect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>
                  <a:defRPr sz="40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dirty="0"/>
                  <a:t>0</a:t>
                </a:r>
                <a:r>
                  <a:rPr lang="en-US" dirty="0"/>
                  <a:t>5</a:t>
                </a:r>
                <a:endParaRPr dirty="0"/>
              </a:p>
            </p:txBody>
          </p:sp>
        </p:grpSp>
        <p:sp>
          <p:nvSpPr>
            <p:cNvPr id="10" name="Google Shape;760;p16">
              <a:extLst>
                <a:ext uri="{FF2B5EF4-FFF2-40B4-BE49-F238E27FC236}">
                  <a16:creationId xmlns:a16="http://schemas.microsoft.com/office/drawing/2014/main" id="{5EFDFC4D-A1C6-7BFC-4948-C87883BCB4EF}"/>
                </a:ext>
              </a:extLst>
            </p:cNvPr>
            <p:cNvSpPr txBox="1"/>
            <p:nvPr/>
          </p:nvSpPr>
          <p:spPr>
            <a:xfrm>
              <a:off x="1504618" y="308667"/>
              <a:ext cx="4004503" cy="497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>
                <a:defRPr sz="1700" b="1">
                  <a:solidFill>
                    <a:srgbClr val="434343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Project Demo</a:t>
              </a: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ontent Placeholder 6"/>
          <p:cNvSpPr txBox="1">
            <a:spLocks noGrp="1"/>
          </p:cNvSpPr>
          <p:nvPr>
            <p:ph type="body" idx="1"/>
          </p:nvPr>
        </p:nvSpPr>
        <p:spPr>
          <a:xfrm>
            <a:off x="3744087" y="2075743"/>
            <a:ext cx="7600418" cy="364510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31520">
              <a:spcBef>
                <a:spcPts val="800"/>
              </a:spcBef>
              <a:buSzTx/>
              <a:defRPr sz="2240" b="1"/>
            </a:pPr>
            <a:r>
              <a:rPr lang="en-US" sz="2000" b="1" dirty="0"/>
              <a:t>Organizations require a secure system to manage employee data, with distinct role-based access for admins and employees. Admins should have full control over all employee records, while employees can only view and edit their own profiles.</a:t>
            </a:r>
          </a:p>
          <a:p>
            <a:pPr defTabSz="731520">
              <a:spcBef>
                <a:spcPts val="800"/>
              </a:spcBef>
              <a:buSzTx/>
              <a:defRPr sz="2240" b="1"/>
            </a:pPr>
            <a:endParaRPr lang="en-US" sz="2000" b="1" dirty="0"/>
          </a:p>
          <a:p>
            <a:pPr defTabSz="731520">
              <a:spcBef>
                <a:spcPts val="800"/>
              </a:spcBef>
              <a:buSzTx/>
              <a:defRPr sz="2240" b="1"/>
            </a:pPr>
            <a:r>
              <a:rPr lang="en-US" sz="2000" b="1" dirty="0"/>
              <a:t>Develop a comprehensive Employee Database Management System using the PERN stack (PostgreSQL, Express, React, Node.js). The system will feature user authentication, role-based access control (admin and employee), and CRUD operations for managing employee records.</a:t>
            </a:r>
            <a:endParaRPr lang="en-US" sz="2000" dirty="0"/>
          </a:p>
        </p:txBody>
      </p:sp>
      <p:sp>
        <p:nvSpPr>
          <p:cNvPr id="186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Problem Statement &amp; Idea</a:t>
            </a:r>
            <a:endParaRPr dirty="0"/>
          </a:p>
        </p:txBody>
      </p:sp>
      <p:grpSp>
        <p:nvGrpSpPr>
          <p:cNvPr id="189" name="Image"/>
          <p:cNvGrpSpPr/>
          <p:nvPr/>
        </p:nvGrpSpPr>
        <p:grpSpPr>
          <a:xfrm>
            <a:off x="636681" y="2596018"/>
            <a:ext cx="2908624" cy="2604550"/>
            <a:chOff x="0" y="203200"/>
            <a:chExt cx="2973270" cy="2604548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200" y="203200"/>
              <a:ext cx="2566870" cy="256687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7" name="Image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/>
          </p:blipFill>
          <p:spPr>
            <a:xfrm>
              <a:off x="0" y="203621"/>
              <a:ext cx="2973270" cy="260412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tent Placeholder 6"/>
          <p:cNvSpPr txBox="1">
            <a:spLocks noGrp="1"/>
          </p:cNvSpPr>
          <p:nvPr>
            <p:ph type="body" idx="1"/>
          </p:nvPr>
        </p:nvSpPr>
        <p:spPr>
          <a:xfrm>
            <a:off x="64009" y="1517905"/>
            <a:ext cx="8634824" cy="497497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sz="1200" b="1" dirty="0"/>
              <a:t>Authentication and Role-Based Access:</a:t>
            </a:r>
            <a:endParaRPr lang="en-US" sz="1200" dirty="0"/>
          </a:p>
          <a:p>
            <a:pPr lvl="1"/>
            <a:r>
              <a:rPr lang="en-US" sz="1200" dirty="0"/>
              <a:t>Admins log in to manage all employee records.</a:t>
            </a:r>
          </a:p>
          <a:p>
            <a:pPr lvl="1"/>
            <a:r>
              <a:rPr lang="en-US" sz="1200" dirty="0"/>
              <a:t>Employees log in to view and edit their profiles.</a:t>
            </a:r>
          </a:p>
          <a:p>
            <a:pPr lvl="0"/>
            <a:r>
              <a:rPr lang="en-US" sz="1200" b="1" dirty="0"/>
              <a:t>User Interface (React Frontend):</a:t>
            </a:r>
            <a:endParaRPr lang="en-US" sz="1200" dirty="0"/>
          </a:p>
          <a:p>
            <a:pPr lvl="1"/>
            <a:r>
              <a:rPr lang="en-US" sz="1200" b="1" dirty="0"/>
              <a:t>Dashboard:</a:t>
            </a:r>
            <a:r>
              <a:rPr lang="en-US" sz="1200" dirty="0"/>
              <a:t> Displays key statistics for both admins and employees.</a:t>
            </a:r>
          </a:p>
          <a:p>
            <a:pPr lvl="1"/>
            <a:r>
              <a:rPr lang="en-US" sz="1200" b="1" dirty="0"/>
              <a:t>Employee List (Admin View):</a:t>
            </a:r>
            <a:r>
              <a:rPr lang="en-US" sz="1200" dirty="0"/>
              <a:t> Admins view all employee records in a table format.</a:t>
            </a:r>
          </a:p>
          <a:p>
            <a:pPr lvl="1"/>
            <a:r>
              <a:rPr lang="en-US" sz="1200" b="1" dirty="0"/>
              <a:t>Employee Profile (Employee View):</a:t>
            </a:r>
            <a:r>
              <a:rPr lang="en-US" sz="1200" dirty="0"/>
              <a:t> Employees can edit their personal information.</a:t>
            </a:r>
          </a:p>
          <a:p>
            <a:pPr lvl="1"/>
            <a:r>
              <a:rPr lang="en-US" sz="1200" b="1" dirty="0"/>
              <a:t>Add Employee Form (Admin Only):</a:t>
            </a:r>
            <a:r>
              <a:rPr lang="en-US" sz="1200" dirty="0"/>
              <a:t> Admins can add new employees with mandatory fields.</a:t>
            </a:r>
          </a:p>
          <a:p>
            <a:pPr lvl="0"/>
            <a:r>
              <a:rPr lang="en-US" sz="1200" b="1" dirty="0"/>
              <a:t>Manage Employee Records:</a:t>
            </a:r>
            <a:endParaRPr lang="en-US" sz="1200" dirty="0"/>
          </a:p>
          <a:p>
            <a:pPr lvl="1"/>
            <a:r>
              <a:rPr lang="en-US" sz="1200" b="1" dirty="0"/>
              <a:t>Edit Record:</a:t>
            </a:r>
            <a:r>
              <a:rPr lang="en-US" sz="1200" dirty="0"/>
              <a:t> Admins can edit any employee's details; employees can edit only their own record.</a:t>
            </a:r>
          </a:p>
          <a:p>
            <a:pPr lvl="1"/>
            <a:r>
              <a:rPr lang="en-US" sz="1200" b="1" dirty="0"/>
              <a:t>Delete Record:</a:t>
            </a:r>
            <a:r>
              <a:rPr lang="en-US" sz="1200" dirty="0"/>
              <a:t> Only admins can delete records, and this action requires a confirmation prompt.</a:t>
            </a:r>
          </a:p>
          <a:p>
            <a:pPr lvl="0"/>
            <a:r>
              <a:rPr lang="en-US" sz="1200" b="1" dirty="0"/>
              <a:t>Search and Filter Functionality:</a:t>
            </a:r>
            <a:endParaRPr lang="en-US" sz="1200" dirty="0"/>
          </a:p>
          <a:p>
            <a:pPr lvl="1"/>
            <a:r>
              <a:rPr lang="en-US" sz="1200" b="1" dirty="0"/>
              <a:t>Search Bar:</a:t>
            </a:r>
            <a:r>
              <a:rPr lang="en-US" sz="1200" dirty="0"/>
              <a:t> Admins can search by name or ID; employees search within their profile.</a:t>
            </a:r>
          </a:p>
          <a:p>
            <a:pPr lvl="1"/>
            <a:r>
              <a:rPr lang="en-US" sz="1200" b="1" dirty="0"/>
              <a:t>Sort Functionality:</a:t>
            </a:r>
            <a:r>
              <a:rPr lang="en-US" sz="1200" dirty="0"/>
              <a:t> Admins can sort records by various criteria.</a:t>
            </a:r>
          </a:p>
          <a:p>
            <a:pPr lvl="0"/>
            <a:r>
              <a:rPr lang="en-US" sz="1200" b="1" dirty="0"/>
              <a:t>Local Storage Integration and Data Persistence:</a:t>
            </a:r>
            <a:endParaRPr lang="en-US" sz="1200" dirty="0"/>
          </a:p>
          <a:p>
            <a:pPr lvl="1"/>
            <a:r>
              <a:rPr lang="en-US" sz="1200" dirty="0"/>
              <a:t>PostgreSQL stores employee records; local storage tracks user sessions for role-based functionality.</a:t>
            </a:r>
          </a:p>
        </p:txBody>
      </p:sp>
      <p:sp>
        <p:nvSpPr>
          <p:cNvPr id="192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Project Components</a:t>
            </a:r>
            <a:endParaRPr dirty="0"/>
          </a:p>
        </p:txBody>
      </p:sp>
      <p:pic>
        <p:nvPicPr>
          <p:cNvPr id="3" name="Picture 2" descr="Hands repairing computer tech component">
            <a:extLst>
              <a:ext uri="{FF2B5EF4-FFF2-40B4-BE49-F238E27FC236}">
                <a16:creationId xmlns:a16="http://schemas.microsoft.com/office/drawing/2014/main" id="{F679B550-6D99-89F1-B0B3-67664A0B7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832" y="3904219"/>
            <a:ext cx="3158289" cy="2105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ontent Placeholder 6"/>
          <p:cNvSpPr txBox="1">
            <a:spLocks noGrp="1"/>
          </p:cNvSpPr>
          <p:nvPr>
            <p:ph type="body" sz="half" idx="1"/>
          </p:nvPr>
        </p:nvSpPr>
        <p:spPr>
          <a:xfrm>
            <a:off x="732059" y="1764169"/>
            <a:ext cx="10312261" cy="232857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7929" indent="-277929" defTabSz="905255">
              <a:spcBef>
                <a:spcPts val="900"/>
              </a:spcBef>
              <a:buFontTx/>
              <a:defRPr sz="2772"/>
            </a:pPr>
            <a:r>
              <a:rPr lang="en-US" sz="2400" dirty="0"/>
              <a:t>Set up GitHub Repo and Development Environment (Node, PostgreSQL).</a:t>
            </a:r>
          </a:p>
          <a:p>
            <a:pPr marL="277929" indent="-277929" defTabSz="905255">
              <a:spcBef>
                <a:spcPts val="900"/>
              </a:spcBef>
              <a:buFontTx/>
              <a:defRPr sz="2772"/>
            </a:pPr>
            <a:r>
              <a:rPr lang="en-US" sz="2400" dirty="0"/>
              <a:t>Create PostgreSQL schema for employee records.</a:t>
            </a:r>
          </a:p>
          <a:p>
            <a:pPr marL="277929" indent="-277929" defTabSz="905255">
              <a:spcBef>
                <a:spcPts val="900"/>
              </a:spcBef>
              <a:buFontTx/>
              <a:defRPr sz="2772"/>
            </a:pPr>
            <a:r>
              <a:rPr lang="en-US" sz="2400" dirty="0"/>
              <a:t>Implement user authentication routes (sign up / sign in).</a:t>
            </a:r>
          </a:p>
          <a:p>
            <a:pPr marL="277929" indent="-277929" defTabSz="905255">
              <a:spcBef>
                <a:spcPts val="900"/>
              </a:spcBef>
              <a:buFontTx/>
              <a:defRPr sz="2772"/>
            </a:pPr>
            <a:r>
              <a:rPr lang="en-US" sz="2400" dirty="0"/>
              <a:t>Set up Express backend and test routes with Postman.</a:t>
            </a:r>
          </a:p>
          <a:p>
            <a:pPr marL="277929" indent="-277929" defTabSz="905255">
              <a:spcBef>
                <a:spcPts val="900"/>
              </a:spcBef>
              <a:buFontTx/>
              <a:defRPr sz="2772"/>
            </a:pPr>
            <a:r>
              <a:rPr lang="en-US" sz="2400" dirty="0"/>
              <a:t>Develop React components: Login, Signup, Dashboard skeletons.</a:t>
            </a:r>
          </a:p>
          <a:p>
            <a:pPr marL="277929" indent="-277929" defTabSz="905255">
              <a:spcBef>
                <a:spcPts val="900"/>
              </a:spcBef>
              <a:buFontTx/>
              <a:defRPr sz="2772"/>
            </a:pPr>
            <a:endParaRPr lang="en-US" sz="2130" dirty="0"/>
          </a:p>
        </p:txBody>
      </p:sp>
      <p:sp>
        <p:nvSpPr>
          <p:cNvPr id="19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Phase – 1 Deliverables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Phase – 1 Deliverables Contd.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4B224-2106-D3E3-3993-E0CD00755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" y="1720024"/>
            <a:ext cx="59436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868931-560F-5EBA-284F-25B85267F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92" y="2734084"/>
            <a:ext cx="43910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BB8226-6AFF-AD05-8EF3-A693AA0AA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" y="3739458"/>
            <a:ext cx="569595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545C263-7AE7-83AF-48C9-AAB577A2B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668" y="1567758"/>
            <a:ext cx="5257800" cy="3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84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ontent Placeholder 6"/>
          <p:cNvSpPr txBox="1">
            <a:spLocks noGrp="1"/>
          </p:cNvSpPr>
          <p:nvPr>
            <p:ph type="body" sz="half" idx="1"/>
          </p:nvPr>
        </p:nvSpPr>
        <p:spPr>
          <a:xfrm>
            <a:off x="732059" y="1764169"/>
            <a:ext cx="10312261" cy="232857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Implement role-based access logic.</a:t>
            </a:r>
          </a:p>
          <a:p>
            <a:pPr lvl="0"/>
            <a:r>
              <a:rPr lang="en-US" dirty="0"/>
              <a:t>Complete CRUD functionality (frontend + backend).</a:t>
            </a:r>
          </a:p>
          <a:p>
            <a:pPr lvl="0"/>
            <a:r>
              <a:rPr lang="en-US" dirty="0"/>
              <a:t>Build employee list and profile views.</a:t>
            </a:r>
          </a:p>
          <a:p>
            <a:pPr lvl="0"/>
            <a:r>
              <a:rPr lang="en-US" dirty="0"/>
              <a:t>Add search, filter, and sort functionality for admins.</a:t>
            </a:r>
          </a:p>
          <a:p>
            <a:r>
              <a:rPr lang="en-US" dirty="0"/>
              <a:t>Finalize styling, test UX, and write project documentation.</a:t>
            </a:r>
            <a:endParaRPr lang="en-US" sz="2130" dirty="0"/>
          </a:p>
        </p:txBody>
      </p:sp>
      <p:sp>
        <p:nvSpPr>
          <p:cNvPr id="19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Phase – 2 Deliverables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701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Phase – 2 Deliverables Contd.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9AD33-5885-D288-8D9F-5D5063D73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11" y="1633727"/>
            <a:ext cx="5278438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D80106-2F8D-0F7F-455E-06DD42C18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14" y="1633727"/>
            <a:ext cx="593407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7422C8-2F14-108D-78B6-14B994597F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80716"/>
            <a:ext cx="5943600" cy="233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970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ontent Placeholder 6"/>
          <p:cNvSpPr txBox="1">
            <a:spLocks noGrp="1"/>
          </p:cNvSpPr>
          <p:nvPr>
            <p:ph type="body" sz="half" idx="1"/>
          </p:nvPr>
        </p:nvSpPr>
        <p:spPr>
          <a:xfrm>
            <a:off x="803936" y="1991522"/>
            <a:ext cx="10122604" cy="419271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 defTabSz="841247">
              <a:spcBef>
                <a:spcPts val="900"/>
              </a:spcBef>
              <a:buNone/>
              <a:defRPr sz="2576"/>
            </a:pPr>
            <a:r>
              <a:rPr lang="en-US" sz="2130" b="1" dirty="0"/>
              <a:t>&lt;&lt;Challenge-1&gt;&gt; </a:t>
            </a:r>
            <a:r>
              <a:rPr lang="en-US" sz="2600" dirty="0"/>
              <a:t>Integrating role-based access control to restrict signup functionality to admin users only, while managing sessions securely.</a:t>
            </a:r>
          </a:p>
          <a:p>
            <a:pPr marL="753577" lvl="1" indent="-258277" defTabSz="841247">
              <a:spcBef>
                <a:spcPts val="900"/>
              </a:spcBef>
              <a:buFontTx/>
              <a:defRPr sz="2576"/>
            </a:pPr>
            <a:r>
              <a:rPr lang="en-US" sz="1900" b="1" dirty="0"/>
              <a:t>Solution: </a:t>
            </a:r>
            <a:r>
              <a:rPr lang="en-US" sz="1900" dirty="0"/>
              <a:t>Implemented middleware checks (</a:t>
            </a:r>
            <a:r>
              <a:rPr lang="en-US" sz="1900" dirty="0" err="1"/>
              <a:t>isLoggedIn</a:t>
            </a:r>
            <a:r>
              <a:rPr lang="en-US" sz="1900" dirty="0"/>
              <a:t> and </a:t>
            </a:r>
            <a:r>
              <a:rPr lang="en-US" sz="1900" dirty="0" err="1"/>
              <a:t>isAdmin</a:t>
            </a:r>
            <a:r>
              <a:rPr lang="en-US" sz="1900" dirty="0"/>
              <a:t>) on backend routes to enforce role-based access and used secure sessions with proper cookie handling. Also updated frontend routing to reflect permissions.</a:t>
            </a:r>
          </a:p>
          <a:p>
            <a:pPr marL="258277" indent="-258277" defTabSz="841247">
              <a:spcBef>
                <a:spcPts val="900"/>
              </a:spcBef>
              <a:buFontTx/>
              <a:defRPr sz="2576"/>
            </a:pPr>
            <a:r>
              <a:rPr lang="en-US" sz="2130" b="1" dirty="0"/>
              <a:t>&lt;&lt;Challenge-2&gt;&gt; </a:t>
            </a:r>
            <a:r>
              <a:rPr lang="en-US" sz="2600" dirty="0"/>
              <a:t>Managing employee data schema inconsistencies between frontend forms and backend PostgreSQL tables led to insertion errors.</a:t>
            </a:r>
          </a:p>
          <a:p>
            <a:pPr marL="753577" lvl="1" indent="-258277" defTabSz="841247">
              <a:spcBef>
                <a:spcPts val="900"/>
              </a:spcBef>
              <a:buFontTx/>
              <a:defRPr sz="2576"/>
            </a:pPr>
            <a:r>
              <a:rPr lang="en-US" sz="1900" b="1" dirty="0"/>
              <a:t>Solution: </a:t>
            </a:r>
            <a:r>
              <a:rPr lang="en-US" sz="1900" dirty="0"/>
              <a:t>Conducted a detailed schema review and refactored backend queries and frontend form fields to align with the database schema, removing unnecessary fields like phone and department to prevent errors.</a:t>
            </a:r>
          </a:p>
          <a:p>
            <a:pPr marL="258277" indent="-258277" defTabSz="841247">
              <a:spcBef>
                <a:spcPts val="900"/>
              </a:spcBef>
              <a:buFontTx/>
              <a:defRPr sz="2576"/>
            </a:pPr>
            <a:r>
              <a:rPr lang="en-US" sz="2130" b="1" dirty="0"/>
              <a:t>&lt;&lt;Challenge-3&gt;&gt; </a:t>
            </a:r>
            <a:r>
              <a:rPr lang="en-US" sz="2600" dirty="0"/>
              <a:t>Missing </a:t>
            </a:r>
            <a:r>
              <a:rPr lang="en-US" sz="2600" dirty="0" err="1"/>
              <a:t>express.json</a:t>
            </a:r>
            <a:r>
              <a:rPr lang="en-US" sz="2600" dirty="0"/>
              <a:t>() caused </a:t>
            </a:r>
            <a:r>
              <a:rPr lang="en-US" sz="2600" dirty="0" err="1"/>
              <a:t>req.body</a:t>
            </a:r>
            <a:r>
              <a:rPr lang="en-US" sz="2600" dirty="0"/>
              <a:t> to be undefined during POST requests</a:t>
            </a:r>
            <a:endParaRPr lang="en-US" sz="2600" b="1" dirty="0"/>
          </a:p>
          <a:p>
            <a:pPr marL="753577" lvl="1" indent="-258277" defTabSz="841247">
              <a:spcBef>
                <a:spcPts val="900"/>
              </a:spcBef>
              <a:buFontTx/>
              <a:defRPr sz="2576"/>
            </a:pPr>
            <a:r>
              <a:rPr lang="en-US" sz="2100" b="1" dirty="0"/>
              <a:t>Solution: </a:t>
            </a:r>
            <a:r>
              <a:rPr lang="en-US" sz="2100" dirty="0"/>
              <a:t>Added the </a:t>
            </a:r>
            <a:r>
              <a:rPr lang="en-US" sz="2100" dirty="0" err="1"/>
              <a:t>express.json</a:t>
            </a:r>
            <a:r>
              <a:rPr lang="en-US" sz="2100" dirty="0"/>
              <a:t>() middleware before all route definitions in server.js to correctly parse JSON bodies, allowing proper access to </a:t>
            </a:r>
            <a:r>
              <a:rPr lang="en-US" sz="2100" dirty="0" err="1"/>
              <a:t>req.body</a:t>
            </a:r>
            <a:r>
              <a:rPr lang="en-US" sz="2100" dirty="0"/>
              <a:t>.</a:t>
            </a:r>
            <a:endParaRPr sz="2100" dirty="0"/>
          </a:p>
        </p:txBody>
      </p:sp>
      <p:sp>
        <p:nvSpPr>
          <p:cNvPr id="20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Challenges &amp; Solutions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ontent Placeholder 6"/>
          <p:cNvSpPr txBox="1">
            <a:spLocks noGrp="1"/>
          </p:cNvSpPr>
          <p:nvPr>
            <p:ph type="body" sz="half" idx="1"/>
          </p:nvPr>
        </p:nvSpPr>
        <p:spPr>
          <a:xfrm>
            <a:off x="803936" y="1991522"/>
            <a:ext cx="10122604" cy="41927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8277" indent="-258277" defTabSz="841247">
              <a:spcBef>
                <a:spcPts val="900"/>
              </a:spcBef>
              <a:buFontTx/>
              <a:defRPr sz="2576"/>
            </a:pPr>
            <a:endParaRPr lang="en-US" sz="2130" dirty="0"/>
          </a:p>
          <a:p>
            <a:pPr marL="258277" indent="-258277" defTabSz="841247">
              <a:spcBef>
                <a:spcPts val="900"/>
              </a:spcBef>
              <a:buFontTx/>
              <a:defRPr sz="2576"/>
            </a:pPr>
            <a:r>
              <a:rPr lang="en-US" sz="2130" b="1" dirty="0"/>
              <a:t>&lt;&lt;Challenge-4&gt;&gt; </a:t>
            </a:r>
            <a:r>
              <a:rPr lang="en-US" sz="2400" dirty="0"/>
              <a:t>Postman tests initially failed because the backend was not running or misconfigured</a:t>
            </a:r>
          </a:p>
          <a:p>
            <a:pPr marL="753577" lvl="1" indent="-258277" defTabSz="841247">
              <a:spcBef>
                <a:spcPts val="900"/>
              </a:spcBef>
              <a:buFontTx/>
              <a:defRPr sz="2576"/>
            </a:pPr>
            <a:r>
              <a:rPr lang="en-US" sz="1800" b="1" dirty="0"/>
              <a:t>Solution: </a:t>
            </a:r>
            <a:r>
              <a:rPr lang="en-US" sz="1800" dirty="0"/>
              <a:t>Forgot to start the backend server before making requests. Once realized, launched the Express server using Node and verified routes were listening properly.</a:t>
            </a:r>
          </a:p>
          <a:p>
            <a:pPr marL="258277" indent="-258277" defTabSz="841247">
              <a:spcBef>
                <a:spcPts val="900"/>
              </a:spcBef>
              <a:buFontTx/>
              <a:defRPr sz="2576"/>
            </a:pPr>
            <a:r>
              <a:rPr lang="en-US" sz="2130" b="1" dirty="0"/>
              <a:t>&lt;&lt;Challenge-5&gt;&gt; </a:t>
            </a:r>
            <a:r>
              <a:rPr lang="en-US" sz="2400" dirty="0"/>
              <a:t>Syncing frontend API calls with backend endpoints caused 404 errors due to mismatched route URLs or ports.</a:t>
            </a:r>
            <a:endParaRPr lang="en-US" sz="2400" b="1" dirty="0"/>
          </a:p>
          <a:p>
            <a:pPr marL="753577" lvl="1" indent="-258277" defTabSz="841247">
              <a:spcBef>
                <a:spcPts val="900"/>
              </a:spcBef>
              <a:buFontTx/>
              <a:defRPr sz="2576"/>
            </a:pPr>
            <a:r>
              <a:rPr lang="en-US" sz="1800" b="1" dirty="0"/>
              <a:t>Solution: </a:t>
            </a:r>
            <a:r>
              <a:rPr lang="en-US" sz="1800" dirty="0"/>
              <a:t>Standardized all API endpoints to use a common base URL with </a:t>
            </a:r>
            <a:r>
              <a:rPr lang="en-US" sz="1800" dirty="0" err="1"/>
              <a:t>withCredentials</a:t>
            </a:r>
            <a:r>
              <a:rPr lang="en-US" sz="1800" dirty="0"/>
              <a:t> enabled for cookies. Reviewed and aligned frontend route calls with backend routes to fix errors.</a:t>
            </a:r>
          </a:p>
          <a:p>
            <a:pPr marL="258277" indent="-258277" defTabSz="841247">
              <a:spcBef>
                <a:spcPts val="900"/>
              </a:spcBef>
              <a:buFontTx/>
              <a:defRPr sz="2576"/>
            </a:pPr>
            <a:endParaRPr sz="2130" dirty="0"/>
          </a:p>
        </p:txBody>
      </p:sp>
      <p:sp>
        <p:nvSpPr>
          <p:cNvPr id="205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856432" cy="979014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dirty="0"/>
              <a:t>Challenges &amp; Solutions Contd.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088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 2"/>
          <p:cNvSpPr txBox="1">
            <a:spLocks noGrp="1"/>
          </p:cNvSpPr>
          <p:nvPr>
            <p:ph type="ctrTitle"/>
          </p:nvPr>
        </p:nvSpPr>
        <p:spPr>
          <a:xfrm>
            <a:off x="1524000" y="2338084"/>
            <a:ext cx="9144000" cy="192109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Demonstration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3366"/>
      </a:dk1>
      <a:lt1>
        <a:srgbClr val="FFFFFF"/>
      </a:lt1>
      <a:dk2>
        <a:srgbClr val="A7A7A7"/>
      </a:dk2>
      <a:lt2>
        <a:srgbClr val="535353"/>
      </a:lt2>
      <a:accent1>
        <a:srgbClr val="F47722"/>
      </a:accent1>
      <a:accent2>
        <a:srgbClr val="FBB040"/>
      </a:accent2>
      <a:accent3>
        <a:srgbClr val="0066B3"/>
      </a:accent3>
      <a:accent4>
        <a:srgbClr val="009DDC"/>
      </a:accent4>
      <a:accent5>
        <a:srgbClr val="00ACA5"/>
      </a:accent5>
      <a:accent6>
        <a:srgbClr val="FFD200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3366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3366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roduction-to-HTML" id="{929EB243-984A-1543-95D6-F46E73342F50}" vid="{F3EE05B3-44CA-4D44-A6E1-E7C0D2728001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3366"/>
      </a:dk1>
      <a:lt1>
        <a:srgbClr val="666666"/>
      </a:lt1>
      <a:dk2>
        <a:srgbClr val="A7A7A7"/>
      </a:dk2>
      <a:lt2>
        <a:srgbClr val="535353"/>
      </a:lt2>
      <a:accent1>
        <a:srgbClr val="F47722"/>
      </a:accent1>
      <a:accent2>
        <a:srgbClr val="FBB040"/>
      </a:accent2>
      <a:accent3>
        <a:srgbClr val="0066B3"/>
      </a:accent3>
      <a:accent4>
        <a:srgbClr val="009DDC"/>
      </a:accent4>
      <a:accent5>
        <a:srgbClr val="00ACA5"/>
      </a:accent5>
      <a:accent6>
        <a:srgbClr val="FFD200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3366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3366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690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 Black</vt:lpstr>
      <vt:lpstr>Calibri</vt:lpstr>
      <vt:lpstr>Office Theme</vt:lpstr>
      <vt:lpstr>EDMS – Employee Data Management System</vt:lpstr>
      <vt:lpstr>Agenda</vt:lpstr>
      <vt:lpstr>Problem Statement &amp; Idea</vt:lpstr>
      <vt:lpstr>Project Components</vt:lpstr>
      <vt:lpstr>Phase – 1 Deliverables</vt:lpstr>
      <vt:lpstr>Phase – 1 Deliverables Contd.</vt:lpstr>
      <vt:lpstr>Phase – 2 Deliverables</vt:lpstr>
      <vt:lpstr>Phase – 2 Deliverables Contd.</vt:lpstr>
      <vt:lpstr>Challenges &amp; Solutions</vt:lpstr>
      <vt:lpstr>Challenges &amp; Solutions Contd.</vt:lpstr>
      <vt:lpstr>Project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Veera Surya Bhaskar Gali</dc:creator>
  <cp:lastModifiedBy>Tyler James Vander Mooren</cp:lastModifiedBy>
  <cp:revision>6</cp:revision>
  <dcterms:created xsi:type="dcterms:W3CDTF">2024-07-29T00:41:02Z</dcterms:created>
  <dcterms:modified xsi:type="dcterms:W3CDTF">2025-07-27T17:48:40Z</dcterms:modified>
</cp:coreProperties>
</file>