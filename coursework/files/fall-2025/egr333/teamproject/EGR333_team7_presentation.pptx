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5cb522f2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a5cb522f25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5cb522f2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a5cb522f25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Comprehensive / don’t leave weak links to be exploited</a:t>
            </a:r>
            <a:endParaRPr/>
          </a:p>
        </p:txBody>
      </p:sp>
      <p:sp>
        <p:nvSpPr>
          <p:cNvPr id="180" name="Google Shape;1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5cb522f25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5cb522f25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11.jpg"/><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netgear.com/hub/network/2024-iot-threat-report/" TargetMode="External"/><Relationship Id="rId4" Type="http://schemas.openxmlformats.org/officeDocument/2006/relationships/hyperlink" Target="https://opensource.com/resources/raspberry-pi" TargetMode="External"/><Relationship Id="rId5" Type="http://schemas.openxmlformats.org/officeDocument/2006/relationships/hyperlink" Target="https://www.fortinet.com/resources/cyberglossary/iot-security" TargetMode="External"/><Relationship Id="rId6" Type="http://schemas.openxmlformats.org/officeDocument/2006/relationships/hyperlink" Target="https://doi.org/10.1016/j.matpr.2021.03.417" TargetMode="External"/><Relationship Id="rId7" Type="http://schemas.openxmlformats.org/officeDocument/2006/relationships/hyperlink" Target="https://www.apu.apus.edu/area-of-study/information-technology/resources/iot-cybersecurity-strengthening-defenses-against-threa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descr="Key in a doorknob" id="84" name="Google Shape;84;p13"/>
          <p:cNvPicPr preferRelativeResize="0"/>
          <p:nvPr/>
        </p:nvPicPr>
        <p:blipFill rotWithShape="1">
          <a:blip r:embed="rId3">
            <a:alphaModFix/>
          </a:blip>
          <a:srcRect b="4131" l="0" r="0" t="11598"/>
          <a:stretch/>
        </p:blipFill>
        <p:spPr>
          <a:xfrm>
            <a:off x="20" y="10"/>
            <a:ext cx="12191979" cy="6857990"/>
          </a:xfrm>
          <a:prstGeom prst="rect">
            <a:avLst/>
          </a:prstGeom>
          <a:noFill/>
          <a:ln>
            <a:noFill/>
          </a:ln>
        </p:spPr>
      </p:pic>
      <p:sp>
        <p:nvSpPr>
          <p:cNvPr id="85" name="Google Shape;85;p13"/>
          <p:cNvSpPr/>
          <p:nvPr/>
        </p:nvSpPr>
        <p:spPr>
          <a:xfrm rot="5400000">
            <a:off x="4344588" y="-4344592"/>
            <a:ext cx="3512400" cy="12201600"/>
          </a:xfrm>
          <a:prstGeom prst="rect">
            <a:avLst/>
          </a:prstGeom>
          <a:gradFill>
            <a:gsLst>
              <a:gs pos="0">
                <a:srgbClr val="000000">
                  <a:alpha val="0"/>
                </a:srgbClr>
              </a:gs>
              <a:gs pos="10000">
                <a:srgbClr val="000000">
                  <a:alpha val="0"/>
                </a:srgbClr>
              </a:gs>
              <a:gs pos="66000">
                <a:srgbClr val="000000">
                  <a:alpha val="45882"/>
                </a:srgbClr>
              </a:gs>
              <a:gs pos="100000">
                <a:srgbClr val="000000">
                  <a:alpha val="60000"/>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6" name="Google Shape;86;p13"/>
          <p:cNvSpPr txBox="1"/>
          <p:nvPr>
            <p:ph type="ctrTitle"/>
          </p:nvPr>
        </p:nvSpPr>
        <p:spPr>
          <a:xfrm>
            <a:off x="762000" y="1137434"/>
            <a:ext cx="7800660" cy="15209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US" sz="4000">
                <a:solidFill>
                  <a:srgbClr val="FFFFFF"/>
                </a:solidFill>
              </a:rPr>
              <a:t>Accessible Home Cybersecurity Kit</a:t>
            </a:r>
            <a:endParaRPr/>
          </a:p>
        </p:txBody>
      </p:sp>
      <p:sp>
        <p:nvSpPr>
          <p:cNvPr id="87" name="Google Shape;87;p13"/>
          <p:cNvSpPr/>
          <p:nvPr/>
        </p:nvSpPr>
        <p:spPr>
          <a:xfrm rot="-5400000">
            <a:off x="4878570" y="-449383"/>
            <a:ext cx="2425271" cy="12201588"/>
          </a:xfrm>
          <a:prstGeom prst="rect">
            <a:avLst/>
          </a:prstGeom>
          <a:gradFill>
            <a:gsLst>
              <a:gs pos="0">
                <a:srgbClr val="000000">
                  <a:alpha val="0"/>
                </a:srgbClr>
              </a:gs>
              <a:gs pos="10000">
                <a:srgbClr val="000000">
                  <a:alpha val="0"/>
                </a:srgbClr>
              </a:gs>
              <a:gs pos="66000">
                <a:srgbClr val="000000">
                  <a:alpha val="34901"/>
                </a:srgbClr>
              </a:gs>
              <a:gs pos="100000">
                <a:srgbClr val="000000">
                  <a:alpha val="44705"/>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8" name="Google Shape;88;p13"/>
          <p:cNvSpPr txBox="1"/>
          <p:nvPr>
            <p:ph idx="1" type="subTitle"/>
          </p:nvPr>
        </p:nvSpPr>
        <p:spPr>
          <a:xfrm>
            <a:off x="808175" y="4777866"/>
            <a:ext cx="6295200" cy="15885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1800"/>
              <a:buNone/>
            </a:pPr>
            <a:r>
              <a:rPr lang="en-US" sz="1800">
                <a:solidFill>
                  <a:srgbClr val="FFFFFF"/>
                </a:solidFill>
              </a:rPr>
              <a:t>Sarah Maughan, </a:t>
            </a:r>
            <a:r>
              <a:rPr lang="en-US" sz="1800">
                <a:solidFill>
                  <a:schemeClr val="lt1"/>
                </a:solidFill>
              </a:rPr>
              <a:t>Skyler Guard, </a:t>
            </a:r>
            <a:r>
              <a:rPr lang="en-US" sz="1800">
                <a:solidFill>
                  <a:srgbClr val="FFFFFF"/>
                </a:solidFill>
              </a:rPr>
              <a:t>Tyler </a:t>
            </a:r>
            <a:r>
              <a:rPr lang="en-US" sz="1800">
                <a:solidFill>
                  <a:srgbClr val="FFFFFF"/>
                </a:solidFill>
              </a:rPr>
              <a:t>Vander </a:t>
            </a:r>
            <a:r>
              <a:rPr lang="en-US" sz="1800">
                <a:solidFill>
                  <a:srgbClr val="FFFFFF"/>
                </a:solidFill>
              </a:rPr>
              <a:t>Mooren</a:t>
            </a:r>
            <a:endParaRPr sz="1800">
              <a:solidFill>
                <a:srgbClr val="FFFFFF"/>
              </a:solidFill>
            </a:endParaRPr>
          </a:p>
          <a:p>
            <a:pPr indent="0" lvl="0" marL="0" rtl="0" algn="l">
              <a:lnSpc>
                <a:spcPct val="90000"/>
              </a:lnSpc>
              <a:spcBef>
                <a:spcPts val="1000"/>
              </a:spcBef>
              <a:spcAft>
                <a:spcPts val="0"/>
              </a:spcAft>
              <a:buClr>
                <a:srgbClr val="FFFFFF"/>
              </a:buClr>
              <a:buSzPts val="1800"/>
              <a:buNone/>
            </a:pPr>
            <a:r>
              <a:rPr lang="en-US" sz="1800">
                <a:solidFill>
                  <a:srgbClr val="FFFFFF"/>
                </a:solidFill>
              </a:rPr>
              <a:t>EGR 333W</a:t>
            </a:r>
            <a:endParaRPr sz="1800">
              <a:solidFill>
                <a:srgbClr val="FFFFFF"/>
              </a:solidFill>
            </a:endParaRPr>
          </a:p>
          <a:p>
            <a:pPr indent="0" lvl="0" marL="0" rtl="0" algn="l">
              <a:lnSpc>
                <a:spcPct val="90000"/>
              </a:lnSpc>
              <a:spcBef>
                <a:spcPts val="1000"/>
              </a:spcBef>
              <a:spcAft>
                <a:spcPts val="0"/>
              </a:spcAft>
              <a:buClr>
                <a:srgbClr val="FFFFFF"/>
              </a:buClr>
              <a:buSzPts val="1800"/>
              <a:buNone/>
            </a:pPr>
            <a:r>
              <a:rPr lang="en-US" sz="1800">
                <a:solidFill>
                  <a:srgbClr val="FFFFFF"/>
                </a:solidFill>
              </a:rPr>
              <a:t>12/7/2025</a:t>
            </a:r>
            <a:endParaRPr sz="1800">
              <a:solidFill>
                <a:srgbClr val="FFFFFF"/>
              </a:solidFill>
            </a:endParaRPr>
          </a:p>
          <a:p>
            <a:pPr indent="0" lvl="0" marL="0" rtl="0" algn="l">
              <a:lnSpc>
                <a:spcPct val="90000"/>
              </a:lnSpc>
              <a:spcBef>
                <a:spcPts val="1000"/>
              </a:spcBef>
              <a:spcAft>
                <a:spcPts val="0"/>
              </a:spcAft>
              <a:buClr>
                <a:schemeClr val="dk1"/>
              </a:buClr>
              <a:buSzPts val="1800"/>
              <a:buNone/>
            </a:pPr>
            <a:r>
              <a:t/>
            </a:r>
            <a:endParaRPr sz="1800">
              <a:solidFill>
                <a:srgbClr val="FFFFFF"/>
              </a:solidFill>
            </a:endParaRPr>
          </a:p>
        </p:txBody>
      </p:sp>
      <p:cxnSp>
        <p:nvCxnSpPr>
          <p:cNvPr id="89" name="Google Shape;89;p13"/>
          <p:cNvCxnSpPr/>
          <p:nvPr/>
        </p:nvCxnSpPr>
        <p:spPr>
          <a:xfrm>
            <a:off x="865140" y="871146"/>
            <a:ext cx="736939" cy="0"/>
          </a:xfrm>
          <a:prstGeom prst="straightConnector1">
            <a:avLst/>
          </a:prstGeom>
          <a:noFill/>
          <a:ln cap="flat" cmpd="sng" w="57150">
            <a:solidFill>
              <a:schemeClr val="accent4"/>
            </a:solidFill>
            <a:prstDash val="solid"/>
            <a:miter lim="800000"/>
            <a:headEnd len="sm" w="sm" type="none"/>
            <a:tailEnd len="sm" w="sm" type="none"/>
          </a:ln>
        </p:spPr>
      </p:cxnSp>
      <p:pic>
        <p:nvPicPr>
          <p:cNvPr id="90" name="Google Shape;90;p13" title="tvander_linkedin.png"/>
          <p:cNvPicPr preferRelativeResize="0"/>
          <p:nvPr/>
        </p:nvPicPr>
        <p:blipFill>
          <a:blip r:embed="rId4">
            <a:alphaModFix/>
          </a:blip>
          <a:stretch>
            <a:fillRect/>
          </a:stretch>
        </p:blipFill>
        <p:spPr>
          <a:xfrm>
            <a:off x="4531725" y="2933950"/>
            <a:ext cx="1861200" cy="1843800"/>
          </a:xfrm>
          <a:prstGeom prst="ellipse">
            <a:avLst/>
          </a:prstGeom>
          <a:noFill/>
          <a:ln>
            <a:noFill/>
          </a:ln>
        </p:spPr>
      </p:pic>
      <p:pic>
        <p:nvPicPr>
          <p:cNvPr id="91" name="Google Shape;91;p13"/>
          <p:cNvPicPr preferRelativeResize="0"/>
          <p:nvPr/>
        </p:nvPicPr>
        <p:blipFill rotWithShape="1">
          <a:blip r:embed="rId5">
            <a:alphaModFix/>
          </a:blip>
          <a:srcRect b="29073" l="0" r="11535" t="22918"/>
          <a:stretch/>
        </p:blipFill>
        <p:spPr>
          <a:xfrm>
            <a:off x="2796250" y="2933950"/>
            <a:ext cx="1529700" cy="1843800"/>
          </a:xfrm>
          <a:prstGeom prst="ellipse">
            <a:avLst/>
          </a:prstGeom>
          <a:noFill/>
          <a:ln>
            <a:noFill/>
          </a:ln>
        </p:spPr>
      </p:pic>
      <p:pic>
        <p:nvPicPr>
          <p:cNvPr id="92" name="Google Shape;92;p13"/>
          <p:cNvPicPr preferRelativeResize="0"/>
          <p:nvPr/>
        </p:nvPicPr>
        <p:blipFill>
          <a:blip r:embed="rId6">
            <a:alphaModFix/>
          </a:blip>
          <a:stretch>
            <a:fillRect/>
          </a:stretch>
        </p:blipFill>
        <p:spPr>
          <a:xfrm>
            <a:off x="729275" y="2924712"/>
            <a:ext cx="1861200" cy="1861200"/>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4"/>
          <p:cNvSpPr txBox="1"/>
          <p:nvPr>
            <p:ph type="title"/>
          </p:nvPr>
        </p:nvSpPr>
        <p:spPr>
          <a:xfrm>
            <a:off x="6823878" y="741391"/>
            <a:ext cx="4491821" cy="161620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sz="3200"/>
              <a:t>The</a:t>
            </a:r>
            <a:r>
              <a:rPr lang="en-US" sz="3200"/>
              <a:t> Problem: Vulnerable Home Networks</a:t>
            </a:r>
            <a:endParaRPr/>
          </a:p>
        </p:txBody>
      </p:sp>
      <p:pic>
        <p:nvPicPr>
          <p:cNvPr descr="Yellow question mark" id="98" name="Google Shape;98;p14"/>
          <p:cNvPicPr preferRelativeResize="0"/>
          <p:nvPr/>
        </p:nvPicPr>
        <p:blipFill rotWithShape="1">
          <a:blip r:embed="rId3">
            <a:alphaModFix/>
          </a:blip>
          <a:srcRect b="0" l="40808" r="5859" t="0"/>
          <a:stretch/>
        </p:blipFill>
        <p:spPr>
          <a:xfrm>
            <a:off x="20" y="10"/>
            <a:ext cx="6095980" cy="6857990"/>
          </a:xfrm>
          <a:prstGeom prst="rect">
            <a:avLst/>
          </a:prstGeom>
          <a:noFill/>
          <a:ln>
            <a:noFill/>
          </a:ln>
        </p:spPr>
      </p:pic>
      <p:grpSp>
        <p:nvGrpSpPr>
          <p:cNvPr id="99" name="Google Shape;99;p14"/>
          <p:cNvGrpSpPr/>
          <p:nvPr/>
        </p:nvGrpSpPr>
        <p:grpSpPr>
          <a:xfrm>
            <a:off x="0" y="0"/>
            <a:ext cx="123362" cy="6858000"/>
            <a:chOff x="12068638" y="0"/>
            <a:chExt cx="123362" cy="6858000"/>
          </a:xfrm>
        </p:grpSpPr>
        <p:sp>
          <p:nvSpPr>
            <p:cNvPr id="100" name="Google Shape;100;p14"/>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1" name="Google Shape;101;p14"/>
            <p:cNvSpPr/>
            <p:nvPr/>
          </p:nvSpPr>
          <p:spPr>
            <a:xfrm>
              <a:off x="12068638" y="4139706"/>
              <a:ext cx="123362" cy="2718294"/>
            </a:xfrm>
            <a:prstGeom prst="rect">
              <a:avLst/>
            </a:prstGeom>
            <a:gradFill>
              <a:gsLst>
                <a:gs pos="0">
                  <a:srgbClr val="A02B93">
                    <a:alpha val="0"/>
                  </a:srgbClr>
                </a:gs>
                <a:gs pos="19000">
                  <a:srgbClr val="A02B93">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02" name="Google Shape;102;p14"/>
          <p:cNvSpPr txBox="1"/>
          <p:nvPr>
            <p:ph idx="1" type="body"/>
          </p:nvPr>
        </p:nvSpPr>
        <p:spPr>
          <a:xfrm>
            <a:off x="6823878" y="2533476"/>
            <a:ext cx="4491820" cy="3447832"/>
          </a:xfrm>
          <a:prstGeom prst="rect">
            <a:avLst/>
          </a:prstGeom>
          <a:noFill/>
          <a:ln>
            <a:noFill/>
          </a:ln>
        </p:spPr>
        <p:txBody>
          <a:bodyPr anchorCtr="0" anchor="t" bIns="45700" lIns="91425" spcFirstLastPara="1" rIns="91425" wrap="square" tIns="45700">
            <a:normAutofit/>
          </a:bodyPr>
          <a:lstStyle/>
          <a:p>
            <a:pPr indent="-101600" lvl="0" marL="228600" rtl="0" algn="l">
              <a:lnSpc>
                <a:spcPct val="90000"/>
              </a:lnSpc>
              <a:spcBef>
                <a:spcPts val="0"/>
              </a:spcBef>
              <a:spcAft>
                <a:spcPts val="0"/>
              </a:spcAft>
              <a:buClr>
                <a:schemeClr val="dk1"/>
              </a:buClr>
              <a:buSzPts val="2000"/>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pic>
        <p:nvPicPr>
          <p:cNvPr id="107" name="Google Shape;107;p15"/>
          <p:cNvPicPr preferRelativeResize="0"/>
          <p:nvPr/>
        </p:nvPicPr>
        <p:blipFill>
          <a:blip r:embed="rId3">
            <a:alphaModFix/>
          </a:blip>
          <a:stretch>
            <a:fillRect/>
          </a:stretch>
        </p:blipFill>
        <p:spPr>
          <a:xfrm rot="-1462218">
            <a:off x="6698400" y="422108"/>
            <a:ext cx="2609424" cy="2609424"/>
          </a:xfrm>
          <a:prstGeom prst="rect">
            <a:avLst/>
          </a:prstGeom>
          <a:noFill/>
          <a:ln>
            <a:noFill/>
          </a:ln>
        </p:spPr>
      </p:pic>
      <p:sp>
        <p:nvSpPr>
          <p:cNvPr id="108" name="Google Shape;108;p15"/>
          <p:cNvSpPr txBox="1"/>
          <p:nvPr>
            <p:ph type="title"/>
          </p:nvPr>
        </p:nvSpPr>
        <p:spPr>
          <a:xfrm>
            <a:off x="532953" y="305491"/>
            <a:ext cx="4491900" cy="1616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sz="3200"/>
              <a:t>Accessible Home Cybersecurity Kit: Overview</a:t>
            </a:r>
            <a:endParaRPr/>
          </a:p>
        </p:txBody>
      </p:sp>
      <p:grpSp>
        <p:nvGrpSpPr>
          <p:cNvPr id="109" name="Google Shape;109;p15"/>
          <p:cNvGrpSpPr/>
          <p:nvPr/>
        </p:nvGrpSpPr>
        <p:grpSpPr>
          <a:xfrm>
            <a:off x="0" y="0"/>
            <a:ext cx="123300" cy="6858006"/>
            <a:chOff x="12068638" y="0"/>
            <a:chExt cx="123300" cy="6858006"/>
          </a:xfrm>
        </p:grpSpPr>
        <p:sp>
          <p:nvSpPr>
            <p:cNvPr id="110" name="Google Shape;110;p15"/>
            <p:cNvSpPr/>
            <p:nvPr/>
          </p:nvSpPr>
          <p:spPr>
            <a:xfrm>
              <a:off x="12068638" y="0"/>
              <a:ext cx="123300" cy="6858000"/>
            </a:xfrm>
            <a:prstGeom prst="rect">
              <a:avLst/>
            </a:prstGeom>
            <a:gradFill>
              <a:gsLst>
                <a:gs pos="0">
                  <a:schemeClr val="accent2"/>
                </a:gs>
                <a:gs pos="100000">
                  <a:schemeClr val="accent5"/>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1" name="Google Shape;111;p15"/>
            <p:cNvSpPr/>
            <p:nvPr/>
          </p:nvSpPr>
          <p:spPr>
            <a:xfrm>
              <a:off x="12068638" y="4139706"/>
              <a:ext cx="123300" cy="2718300"/>
            </a:xfrm>
            <a:prstGeom prst="rect">
              <a:avLst/>
            </a:prstGeom>
            <a:gradFill>
              <a:gsLst>
                <a:gs pos="0">
                  <a:srgbClr val="A02B93">
                    <a:alpha val="0"/>
                  </a:srgbClr>
                </a:gs>
                <a:gs pos="19000">
                  <a:srgbClr val="A02B93">
                    <a:alpha val="0"/>
                  </a:srgbClr>
                </a:gs>
                <a:gs pos="100000">
                  <a:srgbClr val="D86CCC"/>
                </a:gs>
              </a:gsLst>
              <a:lin ang="59988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12" name="Google Shape;112;p15"/>
          <p:cNvSpPr txBox="1"/>
          <p:nvPr>
            <p:ph idx="1" type="body"/>
          </p:nvPr>
        </p:nvSpPr>
        <p:spPr>
          <a:xfrm>
            <a:off x="277475" y="2164700"/>
            <a:ext cx="5998800" cy="44787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SzPts val="2000"/>
              <a:buChar char="•"/>
            </a:pPr>
            <a:r>
              <a:rPr lang="en-US" sz="2000"/>
              <a:t>Accessible, user-centric, and low-cost system designed to bring comprehensive cybersecurity to home networks.</a:t>
            </a:r>
            <a:br>
              <a:rPr lang="en-US" sz="2000"/>
            </a:br>
            <a:endParaRPr sz="2000"/>
          </a:p>
          <a:p>
            <a:pPr indent="-355600" lvl="0" marL="457200" rtl="0" algn="l">
              <a:lnSpc>
                <a:spcPct val="115000"/>
              </a:lnSpc>
              <a:spcBef>
                <a:spcPts val="0"/>
              </a:spcBef>
              <a:spcAft>
                <a:spcPts val="0"/>
              </a:spcAft>
              <a:buSzPts val="2000"/>
              <a:buChar char="•"/>
            </a:pPr>
            <a:r>
              <a:rPr lang="en-US" sz="2000"/>
              <a:t>Consists of a physical hardware ‘hub’ that filters network traffic and performs vulnerability tests, as well as accessories like camera covers.</a:t>
            </a:r>
            <a:br>
              <a:rPr lang="en-US" sz="2000"/>
            </a:br>
            <a:endParaRPr sz="2000"/>
          </a:p>
          <a:p>
            <a:pPr indent="-355600" lvl="0" marL="457200" rtl="0" algn="l">
              <a:lnSpc>
                <a:spcPct val="115000"/>
              </a:lnSpc>
              <a:spcBef>
                <a:spcPts val="0"/>
              </a:spcBef>
              <a:spcAft>
                <a:spcPts val="0"/>
              </a:spcAft>
              <a:buSzPts val="2000"/>
              <a:buChar char="•"/>
            </a:pPr>
            <a:r>
              <a:rPr lang="en-US" sz="2000"/>
              <a:t>Addresses ‘weakest-link’ problem in home cybersecurity.</a:t>
            </a:r>
            <a:endParaRPr sz="2000"/>
          </a:p>
        </p:txBody>
      </p:sp>
      <p:pic>
        <p:nvPicPr>
          <p:cNvPr id="113" name="Google Shape;113;p15"/>
          <p:cNvPicPr preferRelativeResize="0"/>
          <p:nvPr/>
        </p:nvPicPr>
        <p:blipFill>
          <a:blip r:embed="rId4">
            <a:alphaModFix/>
          </a:blip>
          <a:stretch>
            <a:fillRect/>
          </a:stretch>
        </p:blipFill>
        <p:spPr>
          <a:xfrm>
            <a:off x="9190500" y="1157000"/>
            <a:ext cx="2842350" cy="2842350"/>
          </a:xfrm>
          <a:prstGeom prst="rect">
            <a:avLst/>
          </a:prstGeom>
          <a:noFill/>
          <a:ln>
            <a:noFill/>
          </a:ln>
        </p:spPr>
      </p:pic>
      <p:pic>
        <p:nvPicPr>
          <p:cNvPr id="114" name="Google Shape;114;p15"/>
          <p:cNvPicPr preferRelativeResize="0"/>
          <p:nvPr/>
        </p:nvPicPr>
        <p:blipFill>
          <a:blip r:embed="rId5">
            <a:alphaModFix/>
          </a:blip>
          <a:stretch>
            <a:fillRect/>
          </a:stretch>
        </p:blipFill>
        <p:spPr>
          <a:xfrm>
            <a:off x="9274500" y="3927800"/>
            <a:ext cx="2833776" cy="2833776"/>
          </a:xfrm>
          <a:prstGeom prst="rect">
            <a:avLst/>
          </a:prstGeom>
          <a:noFill/>
          <a:ln>
            <a:noFill/>
          </a:ln>
        </p:spPr>
      </p:pic>
      <p:pic>
        <p:nvPicPr>
          <p:cNvPr id="115" name="Google Shape;115;p15"/>
          <p:cNvPicPr preferRelativeResize="0"/>
          <p:nvPr/>
        </p:nvPicPr>
        <p:blipFill>
          <a:blip r:embed="rId6">
            <a:alphaModFix/>
          </a:blip>
          <a:stretch>
            <a:fillRect/>
          </a:stretch>
        </p:blipFill>
        <p:spPr>
          <a:xfrm>
            <a:off x="6969850" y="3582575"/>
            <a:ext cx="2693425" cy="187193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ph type="title"/>
          </p:nvPr>
        </p:nvSpPr>
        <p:spPr>
          <a:xfrm>
            <a:off x="8153400" y="1128094"/>
            <a:ext cx="3434180" cy="14152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3200"/>
              <a:t>Accessible</a:t>
            </a:r>
            <a:r>
              <a:rPr lang="en-US" sz="3200"/>
              <a:t> Home Cybersecurity Kit: </a:t>
            </a:r>
            <a:r>
              <a:rPr lang="en-US" sz="3200"/>
              <a:t>Hardware Overview</a:t>
            </a:r>
            <a:endParaRPr/>
          </a:p>
        </p:txBody>
      </p:sp>
      <p:pic>
        <p:nvPicPr>
          <p:cNvPr descr="A circuit board with many wires&#10;&#10;AI-generated content may be incorrect." id="121" name="Google Shape;121;p16"/>
          <p:cNvPicPr preferRelativeResize="0"/>
          <p:nvPr/>
        </p:nvPicPr>
        <p:blipFill rotWithShape="1">
          <a:blip r:embed="rId3">
            <a:alphaModFix/>
          </a:blip>
          <a:srcRect b="-2" l="18248" r="2525" t="0"/>
          <a:stretch/>
        </p:blipFill>
        <p:spPr>
          <a:xfrm>
            <a:off x="-9886" y="10"/>
            <a:ext cx="7572605" cy="6857990"/>
          </a:xfrm>
          <a:prstGeom prst="rect">
            <a:avLst/>
          </a:prstGeom>
          <a:noFill/>
          <a:ln>
            <a:noFill/>
          </a:ln>
        </p:spPr>
      </p:pic>
      <p:cxnSp>
        <p:nvCxnSpPr>
          <p:cNvPr id="122" name="Google Shape;122;p16"/>
          <p:cNvCxnSpPr/>
          <p:nvPr/>
        </p:nvCxnSpPr>
        <p:spPr>
          <a:xfrm>
            <a:off x="8199390" y="871146"/>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123" name="Google Shape;123;p16"/>
          <p:cNvSpPr txBox="1"/>
          <p:nvPr>
            <p:ph idx="1" type="body"/>
          </p:nvPr>
        </p:nvSpPr>
        <p:spPr>
          <a:xfrm>
            <a:off x="8153400" y="2543364"/>
            <a:ext cx="3434180" cy="3599019"/>
          </a:xfrm>
          <a:prstGeom prst="rect">
            <a:avLst/>
          </a:prstGeom>
          <a:noFill/>
          <a:ln>
            <a:noFill/>
          </a:ln>
        </p:spPr>
        <p:txBody>
          <a:bodyPr anchorCtr="0" anchor="t" bIns="45700" lIns="91425" spcFirstLastPara="1" rIns="91425" wrap="square" tIns="45700">
            <a:normAutofit/>
          </a:bodyPr>
          <a:lstStyle/>
          <a:p>
            <a:pPr indent="-241300" lvl="0" marL="228600" rtl="0" algn="l">
              <a:spcBef>
                <a:spcPts val="0"/>
              </a:spcBef>
              <a:spcAft>
                <a:spcPts val="0"/>
              </a:spcAft>
              <a:buSzPts val="2000"/>
              <a:buChar char="•"/>
            </a:pPr>
            <a:r>
              <a:rPr lang="en-US" sz="2000"/>
              <a:t>Raspberry Pi Zero W</a:t>
            </a:r>
            <a:endParaRPr sz="2000"/>
          </a:p>
          <a:p>
            <a:pPr indent="-228600" lvl="0" marL="228600" rtl="0" algn="l">
              <a:lnSpc>
                <a:spcPct val="90000"/>
              </a:lnSpc>
              <a:spcBef>
                <a:spcPts val="1000"/>
              </a:spcBef>
              <a:spcAft>
                <a:spcPts val="0"/>
              </a:spcAft>
              <a:buClr>
                <a:schemeClr val="dk1"/>
              </a:buClr>
              <a:buSzPts val="2000"/>
              <a:buChar char="•"/>
            </a:pPr>
            <a:r>
              <a:rPr lang="en-US" sz="2000"/>
              <a:t>Includes w</a:t>
            </a:r>
            <a:r>
              <a:rPr lang="en-US" sz="2000"/>
              <a:t>ifi adaptor and and ethernet port </a:t>
            </a:r>
            <a:endParaRPr sz="2000"/>
          </a:p>
          <a:p>
            <a:pPr indent="-228600" lvl="0" marL="228600" rtl="0" algn="l">
              <a:lnSpc>
                <a:spcPct val="90000"/>
              </a:lnSpc>
              <a:spcBef>
                <a:spcPts val="1000"/>
              </a:spcBef>
              <a:spcAft>
                <a:spcPts val="0"/>
              </a:spcAft>
              <a:buClr>
                <a:schemeClr val="dk1"/>
              </a:buClr>
              <a:buSzPts val="2000"/>
              <a:buChar char="•"/>
            </a:pPr>
            <a:r>
              <a:rPr lang="en-US" sz="2000"/>
              <a:t>GPIO for expansion</a:t>
            </a:r>
            <a:endParaRPr/>
          </a:p>
          <a:p>
            <a:pPr indent="-228600" lvl="0" marL="228600" rtl="0" algn="l">
              <a:lnSpc>
                <a:spcPct val="90000"/>
              </a:lnSpc>
              <a:spcBef>
                <a:spcPts val="1000"/>
              </a:spcBef>
              <a:spcAft>
                <a:spcPts val="0"/>
              </a:spcAft>
              <a:buClr>
                <a:schemeClr val="dk1"/>
              </a:buClr>
              <a:buSzPts val="2000"/>
              <a:buChar char="•"/>
            </a:pPr>
            <a:r>
              <a:rPr lang="en-US" sz="2000"/>
              <a:t>Lightweight, Small and inexpensive</a:t>
            </a:r>
            <a:endParaRPr sz="2000"/>
          </a:p>
          <a:p>
            <a:pPr indent="-228600" lvl="0" marL="228600" rtl="0" algn="l">
              <a:lnSpc>
                <a:spcPct val="90000"/>
              </a:lnSpc>
              <a:spcBef>
                <a:spcPts val="1000"/>
              </a:spcBef>
              <a:spcAft>
                <a:spcPts val="0"/>
              </a:spcAft>
              <a:buSzPts val="2000"/>
              <a:buChar char="•"/>
            </a:pPr>
            <a:r>
              <a:rPr lang="en-US" sz="2000"/>
              <a:t>Connects to home devices via home router</a:t>
            </a:r>
            <a:endParaRPr sz="2000"/>
          </a:p>
          <a:p>
            <a:pPr indent="-101600" lvl="0" marL="228600" rtl="0" algn="l">
              <a:lnSpc>
                <a:spcPct val="90000"/>
              </a:lnSpc>
              <a:spcBef>
                <a:spcPts val="1000"/>
              </a:spcBef>
              <a:spcAft>
                <a:spcPts val="1000"/>
              </a:spcAft>
              <a:buClr>
                <a:schemeClr val="dk1"/>
              </a:buClr>
              <a:buSzPts val="2000"/>
              <a:buNone/>
            </a:pPr>
            <a:r>
              <a:t/>
            </a:r>
            <a:endParaRPr sz="2000"/>
          </a:p>
        </p:txBody>
      </p:sp>
      <p:grpSp>
        <p:nvGrpSpPr>
          <p:cNvPr id="124" name="Google Shape;124;p16"/>
          <p:cNvGrpSpPr/>
          <p:nvPr/>
        </p:nvGrpSpPr>
        <p:grpSpPr>
          <a:xfrm>
            <a:off x="7439425" y="0"/>
            <a:ext cx="123300" cy="6858006"/>
            <a:chOff x="12068638" y="0"/>
            <a:chExt cx="123300" cy="6858006"/>
          </a:xfrm>
        </p:grpSpPr>
        <p:sp>
          <p:nvSpPr>
            <p:cNvPr id="125" name="Google Shape;125;p16"/>
            <p:cNvSpPr/>
            <p:nvPr/>
          </p:nvSpPr>
          <p:spPr>
            <a:xfrm>
              <a:off x="12068638" y="0"/>
              <a:ext cx="123300" cy="6858000"/>
            </a:xfrm>
            <a:prstGeom prst="rect">
              <a:avLst/>
            </a:prstGeom>
            <a:gradFill>
              <a:gsLst>
                <a:gs pos="0">
                  <a:schemeClr val="accent2"/>
                </a:gs>
                <a:gs pos="100000">
                  <a:schemeClr val="accent5"/>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6" name="Google Shape;126;p16"/>
            <p:cNvSpPr/>
            <p:nvPr/>
          </p:nvSpPr>
          <p:spPr>
            <a:xfrm>
              <a:off x="12068638" y="4139706"/>
              <a:ext cx="123300" cy="2718300"/>
            </a:xfrm>
            <a:prstGeom prst="rect">
              <a:avLst/>
            </a:prstGeom>
            <a:gradFill>
              <a:gsLst>
                <a:gs pos="0">
                  <a:srgbClr val="A02B93">
                    <a:alpha val="0"/>
                  </a:srgbClr>
                </a:gs>
                <a:gs pos="19000">
                  <a:srgbClr val="A02B93">
                    <a:alpha val="0"/>
                  </a:srgbClr>
                </a:gs>
                <a:gs pos="100000">
                  <a:srgbClr val="D86CCC"/>
                </a:gs>
              </a:gsLst>
              <a:lin ang="59988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17"/>
          <p:cNvSpPr txBox="1"/>
          <p:nvPr/>
        </p:nvSpPr>
        <p:spPr>
          <a:xfrm>
            <a:off x="4311730" y="5612674"/>
            <a:ext cx="1183800" cy="242100"/>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packets</a:t>
            </a:r>
            <a:endParaRPr sz="752"/>
          </a:p>
        </p:txBody>
      </p:sp>
      <p:sp>
        <p:nvSpPr>
          <p:cNvPr id="132" name="Google Shape;132;p17"/>
          <p:cNvSpPr txBox="1"/>
          <p:nvPr>
            <p:ph type="title"/>
          </p:nvPr>
        </p:nvSpPr>
        <p:spPr>
          <a:xfrm>
            <a:off x="532953" y="305491"/>
            <a:ext cx="4491900" cy="1616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sz="3200"/>
              <a:t>Accessible Home Cybersecurity Kit: Components</a:t>
            </a:r>
            <a:endParaRPr/>
          </a:p>
        </p:txBody>
      </p:sp>
      <p:grpSp>
        <p:nvGrpSpPr>
          <p:cNvPr id="133" name="Google Shape;133;p17"/>
          <p:cNvGrpSpPr/>
          <p:nvPr/>
        </p:nvGrpSpPr>
        <p:grpSpPr>
          <a:xfrm>
            <a:off x="0" y="0"/>
            <a:ext cx="123362" cy="6858000"/>
            <a:chOff x="12068638" y="0"/>
            <a:chExt cx="123362" cy="6858000"/>
          </a:xfrm>
        </p:grpSpPr>
        <p:sp>
          <p:nvSpPr>
            <p:cNvPr id="134" name="Google Shape;134;p17"/>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5" name="Google Shape;135;p17"/>
            <p:cNvSpPr/>
            <p:nvPr/>
          </p:nvSpPr>
          <p:spPr>
            <a:xfrm>
              <a:off x="12068638" y="4139706"/>
              <a:ext cx="123362" cy="2718294"/>
            </a:xfrm>
            <a:prstGeom prst="rect">
              <a:avLst/>
            </a:prstGeom>
            <a:gradFill>
              <a:gsLst>
                <a:gs pos="0">
                  <a:srgbClr val="A02B93">
                    <a:alpha val="0"/>
                  </a:srgbClr>
                </a:gs>
                <a:gs pos="19000">
                  <a:srgbClr val="A02B93">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36" name="Google Shape;136;p17"/>
          <p:cNvSpPr txBox="1"/>
          <p:nvPr>
            <p:ph idx="1" type="body"/>
          </p:nvPr>
        </p:nvSpPr>
        <p:spPr>
          <a:xfrm>
            <a:off x="6081125" y="305500"/>
            <a:ext cx="5998800" cy="6282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None/>
            </a:pPr>
            <a:r>
              <a:t/>
            </a:r>
            <a:endParaRPr b="1" sz="2000"/>
          </a:p>
          <a:p>
            <a:pPr indent="-355600" lvl="0" marL="457200" rtl="0" algn="l">
              <a:lnSpc>
                <a:spcPct val="115000"/>
              </a:lnSpc>
              <a:spcBef>
                <a:spcPts val="0"/>
              </a:spcBef>
              <a:spcAft>
                <a:spcPts val="0"/>
              </a:spcAft>
              <a:buSzPts val="2000"/>
              <a:buChar char="•"/>
            </a:pPr>
            <a:r>
              <a:rPr b="1" lang="en-US" sz="2000"/>
              <a:t>Home Security Hub (HSH)</a:t>
            </a:r>
            <a:r>
              <a:rPr lang="en-US" sz="2000"/>
              <a:t> - plug-and-play device built using a Raspberry Pi Zero W that provides integrated home cybersecurity via:</a:t>
            </a:r>
            <a:endParaRPr sz="2000"/>
          </a:p>
          <a:p>
            <a:pPr indent="-355600" lvl="1" marL="914400" rtl="0" algn="l">
              <a:lnSpc>
                <a:spcPct val="115000"/>
              </a:lnSpc>
              <a:spcBef>
                <a:spcPts val="0"/>
              </a:spcBef>
              <a:spcAft>
                <a:spcPts val="0"/>
              </a:spcAft>
              <a:buSzPts val="2000"/>
              <a:buChar char="•"/>
            </a:pPr>
            <a:r>
              <a:rPr i="1" lang="en-US" sz="2000"/>
              <a:t>Network filtering - </a:t>
            </a:r>
            <a:r>
              <a:rPr lang="en-US" sz="2000"/>
              <a:t>filters incoming and </a:t>
            </a:r>
            <a:endParaRPr sz="2000"/>
          </a:p>
          <a:p>
            <a:pPr indent="-355600" lvl="1" marL="914400" rtl="0" algn="l">
              <a:lnSpc>
                <a:spcPct val="115000"/>
              </a:lnSpc>
              <a:spcBef>
                <a:spcPts val="0"/>
              </a:spcBef>
              <a:spcAft>
                <a:spcPts val="0"/>
              </a:spcAft>
              <a:buSzPts val="2000"/>
              <a:buChar char="•"/>
            </a:pPr>
            <a:r>
              <a:rPr lang="en-US" sz="2000"/>
              <a:t>outgoing packets for devices on the home network to block suspicious traffic.</a:t>
            </a:r>
            <a:endParaRPr sz="2000"/>
          </a:p>
          <a:p>
            <a:pPr indent="-355600" lvl="1" marL="914400" rtl="0" algn="l">
              <a:lnSpc>
                <a:spcPct val="115000"/>
              </a:lnSpc>
              <a:spcBef>
                <a:spcPts val="0"/>
              </a:spcBef>
              <a:spcAft>
                <a:spcPts val="0"/>
              </a:spcAft>
              <a:buSzPts val="2000"/>
              <a:buChar char="•"/>
            </a:pPr>
            <a:r>
              <a:rPr i="1" lang="en-US" sz="2000"/>
              <a:t>Vulnerability testing - </a:t>
            </a:r>
            <a:r>
              <a:rPr lang="en-US" sz="2000"/>
              <a:t>performs penetration tests across home devices to identify vulnerabilities</a:t>
            </a:r>
            <a:br>
              <a:rPr lang="en-US" sz="2000"/>
            </a:br>
            <a:endParaRPr sz="2000"/>
          </a:p>
          <a:p>
            <a:pPr indent="-355600" lvl="0" marL="457200" rtl="0" algn="l">
              <a:lnSpc>
                <a:spcPct val="115000"/>
              </a:lnSpc>
              <a:spcBef>
                <a:spcPts val="0"/>
              </a:spcBef>
              <a:spcAft>
                <a:spcPts val="0"/>
              </a:spcAft>
              <a:buSzPts val="2000"/>
              <a:buChar char="•"/>
            </a:pPr>
            <a:r>
              <a:rPr b="1" lang="en-US" sz="2000"/>
              <a:t>Dashboard</a:t>
            </a:r>
            <a:r>
              <a:rPr lang="en-US" sz="2000"/>
              <a:t> - user-friendly mobile application where users view security reports and vulnerability alerts from the HSH, with guided tutorials for improving security. Users also use the dashboard to reconfigure HSH settings.</a:t>
            </a:r>
            <a:br>
              <a:rPr lang="en-US" sz="2000"/>
            </a:br>
            <a:endParaRPr sz="2000"/>
          </a:p>
          <a:p>
            <a:pPr indent="-355600" lvl="0" marL="457200" rtl="0" algn="l">
              <a:lnSpc>
                <a:spcPct val="115000"/>
              </a:lnSpc>
              <a:spcBef>
                <a:spcPts val="0"/>
              </a:spcBef>
              <a:spcAft>
                <a:spcPts val="0"/>
              </a:spcAft>
              <a:buSzPts val="2000"/>
              <a:buChar char="•"/>
            </a:pPr>
            <a:r>
              <a:rPr b="1" lang="en-US" sz="2000"/>
              <a:t>Security Accessories</a:t>
            </a:r>
            <a:r>
              <a:rPr lang="en-US" sz="2000"/>
              <a:t> - camera stickers and outlet switches allow users physical control over their devices to protect their privacy.</a:t>
            </a:r>
            <a:endParaRPr i="1" sz="2000"/>
          </a:p>
        </p:txBody>
      </p:sp>
      <p:sp>
        <p:nvSpPr>
          <p:cNvPr id="137" name="Google Shape;137;p17"/>
          <p:cNvSpPr/>
          <p:nvPr/>
        </p:nvSpPr>
        <p:spPr>
          <a:xfrm>
            <a:off x="4207652" y="4462178"/>
            <a:ext cx="864000" cy="1105500"/>
          </a:xfrm>
          <a:prstGeom prst="roundRect">
            <a:avLst>
              <a:gd fmla="val 16667" name="adj"/>
            </a:avLst>
          </a:prstGeom>
          <a:noFill/>
          <a:ln cap="flat" cmpd="sng" w="6525">
            <a:solidFill>
              <a:srgbClr val="000000"/>
            </a:solidFill>
            <a:prstDash val="solid"/>
            <a:round/>
            <a:headEnd len="sm" w="sm" type="none"/>
            <a:tailEnd len="sm" w="sm" type="none"/>
          </a:ln>
        </p:spPr>
        <p:txBody>
          <a:bodyPr anchorCtr="0" anchor="ctr" bIns="62500" lIns="62500" spcFirstLastPara="1" rIns="62500" wrap="square" tIns="62500">
            <a:noAutofit/>
          </a:bodyPr>
          <a:lstStyle/>
          <a:p>
            <a:pPr indent="0" lvl="0" marL="0" rtl="0" algn="ctr">
              <a:spcBef>
                <a:spcPts val="0"/>
              </a:spcBef>
              <a:spcAft>
                <a:spcPts val="0"/>
              </a:spcAft>
              <a:buNone/>
            </a:pPr>
            <a:r>
              <a:rPr lang="en-US" sz="957"/>
              <a:t>HSH</a:t>
            </a:r>
            <a:endParaRPr sz="957"/>
          </a:p>
          <a:p>
            <a:pPr indent="0" lvl="0" marL="0" rtl="0" algn="ctr">
              <a:spcBef>
                <a:spcPts val="0"/>
              </a:spcBef>
              <a:spcAft>
                <a:spcPts val="0"/>
              </a:spcAft>
              <a:buNone/>
            </a:pPr>
            <a:r>
              <a:rPr lang="en-US" sz="957"/>
              <a:t>(Network</a:t>
            </a:r>
            <a:br>
              <a:rPr lang="en-US" sz="957"/>
            </a:br>
            <a:r>
              <a:rPr lang="en-US" sz="957"/>
              <a:t>Filtering</a:t>
            </a:r>
            <a:br>
              <a:rPr lang="en-US" sz="957"/>
            </a:br>
            <a:r>
              <a:rPr lang="en-US" sz="957"/>
              <a:t>System)</a:t>
            </a:r>
            <a:endParaRPr sz="957"/>
          </a:p>
        </p:txBody>
      </p:sp>
      <p:sp>
        <p:nvSpPr>
          <p:cNvPr id="138" name="Google Shape;138;p17"/>
          <p:cNvSpPr/>
          <p:nvPr/>
        </p:nvSpPr>
        <p:spPr>
          <a:xfrm>
            <a:off x="1740229" y="4669114"/>
            <a:ext cx="1059000" cy="691800"/>
          </a:xfrm>
          <a:prstGeom prst="roundRect">
            <a:avLst>
              <a:gd fmla="val 16667" name="adj"/>
            </a:avLst>
          </a:prstGeom>
          <a:noFill/>
          <a:ln cap="flat" cmpd="sng" w="6525">
            <a:solidFill>
              <a:srgbClr val="000000"/>
            </a:solidFill>
            <a:prstDash val="solid"/>
            <a:round/>
            <a:headEnd len="sm" w="sm" type="none"/>
            <a:tailEnd len="sm" w="sm" type="none"/>
          </a:ln>
        </p:spPr>
        <p:txBody>
          <a:bodyPr anchorCtr="0" anchor="ctr" bIns="62500" lIns="62500" spcFirstLastPara="1" rIns="62500" wrap="square" tIns="62500">
            <a:noAutofit/>
          </a:bodyPr>
          <a:lstStyle/>
          <a:p>
            <a:pPr indent="0" lvl="0" marL="0" rtl="0" algn="ctr">
              <a:spcBef>
                <a:spcPts val="0"/>
              </a:spcBef>
              <a:spcAft>
                <a:spcPts val="0"/>
              </a:spcAft>
              <a:buNone/>
            </a:pPr>
            <a:r>
              <a:rPr lang="en-US" sz="957"/>
              <a:t>Home Devices</a:t>
            </a:r>
            <a:endParaRPr sz="957"/>
          </a:p>
        </p:txBody>
      </p:sp>
      <p:sp>
        <p:nvSpPr>
          <p:cNvPr id="139" name="Google Shape;139;p17"/>
          <p:cNvSpPr/>
          <p:nvPr/>
        </p:nvSpPr>
        <p:spPr>
          <a:xfrm flipH="1">
            <a:off x="4146500" y="5899786"/>
            <a:ext cx="1049100" cy="691800"/>
          </a:xfrm>
          <a:prstGeom prst="roundRect">
            <a:avLst>
              <a:gd fmla="val 16667" name="adj"/>
            </a:avLst>
          </a:prstGeom>
          <a:noFill/>
          <a:ln cap="flat" cmpd="sng" w="6525">
            <a:solidFill>
              <a:srgbClr val="000000"/>
            </a:solidFill>
            <a:prstDash val="solid"/>
            <a:round/>
            <a:headEnd len="sm" w="sm" type="none"/>
            <a:tailEnd len="sm" w="sm" type="none"/>
          </a:ln>
        </p:spPr>
        <p:txBody>
          <a:bodyPr anchorCtr="0" anchor="ctr" bIns="62500" lIns="62500" spcFirstLastPara="1" rIns="62500" wrap="square" tIns="62500">
            <a:noAutofit/>
          </a:bodyPr>
          <a:lstStyle/>
          <a:p>
            <a:pPr indent="0" lvl="0" marL="0" rtl="0" algn="ctr">
              <a:spcBef>
                <a:spcPts val="0"/>
              </a:spcBef>
              <a:spcAft>
                <a:spcPts val="0"/>
              </a:spcAft>
              <a:buNone/>
            </a:pPr>
            <a:r>
              <a:rPr lang="en-US" sz="957"/>
              <a:t>External Networks</a:t>
            </a:r>
            <a:endParaRPr sz="957"/>
          </a:p>
        </p:txBody>
      </p:sp>
      <p:cxnSp>
        <p:nvCxnSpPr>
          <p:cNvPr id="140" name="Google Shape;140;p17"/>
          <p:cNvCxnSpPr>
            <a:stCxn id="139" idx="0"/>
            <a:endCxn id="137" idx="2"/>
          </p:cNvCxnSpPr>
          <p:nvPr/>
        </p:nvCxnSpPr>
        <p:spPr>
          <a:xfrm rot="10800000">
            <a:off x="4639550" y="5567686"/>
            <a:ext cx="31500" cy="332100"/>
          </a:xfrm>
          <a:prstGeom prst="straightConnector1">
            <a:avLst/>
          </a:prstGeom>
          <a:noFill/>
          <a:ln cap="flat" cmpd="sng" w="6525">
            <a:solidFill>
              <a:srgbClr val="000000"/>
            </a:solidFill>
            <a:prstDash val="solid"/>
            <a:round/>
            <a:headEnd len="med" w="med" type="none"/>
            <a:tailEnd len="med" w="med" type="triangle"/>
          </a:ln>
        </p:spPr>
      </p:cxnSp>
      <p:cxnSp>
        <p:nvCxnSpPr>
          <p:cNvPr id="141" name="Google Shape;141;p17"/>
          <p:cNvCxnSpPr/>
          <p:nvPr/>
        </p:nvCxnSpPr>
        <p:spPr>
          <a:xfrm rot="10800000">
            <a:off x="2799452" y="5062516"/>
            <a:ext cx="1408200" cy="0"/>
          </a:xfrm>
          <a:prstGeom prst="straightConnector1">
            <a:avLst/>
          </a:prstGeom>
          <a:noFill/>
          <a:ln cap="flat" cmpd="sng" w="6525">
            <a:solidFill>
              <a:srgbClr val="000000"/>
            </a:solidFill>
            <a:prstDash val="solid"/>
            <a:round/>
            <a:headEnd len="med" w="med" type="triangle"/>
            <a:tailEnd len="med" w="med" type="none"/>
          </a:ln>
        </p:spPr>
      </p:cxnSp>
      <p:cxnSp>
        <p:nvCxnSpPr>
          <p:cNvPr id="142" name="Google Shape;142;p17"/>
          <p:cNvCxnSpPr/>
          <p:nvPr/>
        </p:nvCxnSpPr>
        <p:spPr>
          <a:xfrm rot="10800000">
            <a:off x="2799354" y="4958796"/>
            <a:ext cx="1415100" cy="0"/>
          </a:xfrm>
          <a:prstGeom prst="straightConnector1">
            <a:avLst/>
          </a:prstGeom>
          <a:noFill/>
          <a:ln cap="flat" cmpd="sng" w="6525">
            <a:solidFill>
              <a:srgbClr val="000000"/>
            </a:solidFill>
            <a:prstDash val="solid"/>
            <a:round/>
            <a:headEnd len="med" w="med" type="none"/>
            <a:tailEnd len="med" w="med" type="triangle"/>
          </a:ln>
        </p:spPr>
      </p:cxnSp>
      <p:cxnSp>
        <p:nvCxnSpPr>
          <p:cNvPr id="143" name="Google Shape;143;p17"/>
          <p:cNvCxnSpPr/>
          <p:nvPr/>
        </p:nvCxnSpPr>
        <p:spPr>
          <a:xfrm flipH="1">
            <a:off x="4432100" y="5570375"/>
            <a:ext cx="18600" cy="326700"/>
          </a:xfrm>
          <a:prstGeom prst="straightConnector1">
            <a:avLst/>
          </a:prstGeom>
          <a:noFill/>
          <a:ln cap="flat" cmpd="sng" w="6525">
            <a:solidFill>
              <a:srgbClr val="000000"/>
            </a:solidFill>
            <a:prstDash val="solid"/>
            <a:round/>
            <a:headEnd len="med" w="med" type="none"/>
            <a:tailEnd len="med" w="med" type="triangle"/>
          </a:ln>
        </p:spPr>
      </p:cxnSp>
      <p:sp>
        <p:nvSpPr>
          <p:cNvPr id="144" name="Google Shape;144;p17"/>
          <p:cNvSpPr/>
          <p:nvPr/>
        </p:nvSpPr>
        <p:spPr>
          <a:xfrm>
            <a:off x="3731449" y="3217130"/>
            <a:ext cx="945600" cy="1105500"/>
          </a:xfrm>
          <a:prstGeom prst="roundRect">
            <a:avLst>
              <a:gd fmla="val 16667" name="adj"/>
            </a:avLst>
          </a:prstGeom>
          <a:noFill/>
          <a:ln cap="flat" cmpd="sng" w="6525">
            <a:solidFill>
              <a:srgbClr val="000000"/>
            </a:solidFill>
            <a:prstDash val="solid"/>
            <a:round/>
            <a:headEnd len="sm" w="sm" type="none"/>
            <a:tailEnd len="sm" w="sm" type="none"/>
          </a:ln>
        </p:spPr>
        <p:txBody>
          <a:bodyPr anchorCtr="0" anchor="ctr" bIns="62500" lIns="62500" spcFirstLastPara="1" rIns="62500" wrap="square" tIns="62500">
            <a:noAutofit/>
          </a:bodyPr>
          <a:lstStyle/>
          <a:p>
            <a:pPr indent="0" lvl="0" marL="0" rtl="0" algn="ctr">
              <a:spcBef>
                <a:spcPts val="0"/>
              </a:spcBef>
              <a:spcAft>
                <a:spcPts val="0"/>
              </a:spcAft>
              <a:buNone/>
            </a:pPr>
            <a:r>
              <a:rPr lang="en-US" sz="957"/>
              <a:t>HSH</a:t>
            </a:r>
            <a:endParaRPr sz="957"/>
          </a:p>
          <a:p>
            <a:pPr indent="0" lvl="0" marL="0" rtl="0" algn="ctr">
              <a:spcBef>
                <a:spcPts val="0"/>
              </a:spcBef>
              <a:spcAft>
                <a:spcPts val="0"/>
              </a:spcAft>
              <a:buNone/>
            </a:pPr>
            <a:r>
              <a:rPr lang="en-US" sz="957"/>
              <a:t>(Vulnerability Detection)</a:t>
            </a:r>
            <a:endParaRPr sz="957"/>
          </a:p>
        </p:txBody>
      </p:sp>
      <p:sp>
        <p:nvSpPr>
          <p:cNvPr id="145" name="Google Shape;145;p17"/>
          <p:cNvSpPr txBox="1"/>
          <p:nvPr/>
        </p:nvSpPr>
        <p:spPr>
          <a:xfrm>
            <a:off x="2962702" y="4716799"/>
            <a:ext cx="1183800" cy="242100"/>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packets</a:t>
            </a:r>
            <a:endParaRPr sz="752"/>
          </a:p>
        </p:txBody>
      </p:sp>
      <p:cxnSp>
        <p:nvCxnSpPr>
          <p:cNvPr id="146" name="Google Shape;146;p17"/>
          <p:cNvCxnSpPr>
            <a:stCxn id="144" idx="1"/>
            <a:endCxn id="138" idx="0"/>
          </p:cNvCxnSpPr>
          <p:nvPr/>
        </p:nvCxnSpPr>
        <p:spPr>
          <a:xfrm flipH="1">
            <a:off x="2269849" y="3769880"/>
            <a:ext cx="1461600" cy="899100"/>
          </a:xfrm>
          <a:prstGeom prst="straightConnector1">
            <a:avLst/>
          </a:prstGeom>
          <a:noFill/>
          <a:ln cap="flat" cmpd="sng" w="6525">
            <a:solidFill>
              <a:srgbClr val="000000"/>
            </a:solidFill>
            <a:prstDash val="solid"/>
            <a:round/>
            <a:headEnd len="med" w="med" type="none"/>
            <a:tailEnd len="med" w="med" type="triangle"/>
          </a:ln>
        </p:spPr>
      </p:cxnSp>
      <p:sp>
        <p:nvSpPr>
          <p:cNvPr id="147" name="Google Shape;147;p17"/>
          <p:cNvSpPr txBox="1"/>
          <p:nvPr/>
        </p:nvSpPr>
        <p:spPr>
          <a:xfrm rot="-1794312">
            <a:off x="2442220" y="4143755"/>
            <a:ext cx="1183594" cy="242166"/>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penetration test</a:t>
            </a:r>
            <a:endParaRPr sz="752"/>
          </a:p>
        </p:txBody>
      </p:sp>
      <p:cxnSp>
        <p:nvCxnSpPr>
          <p:cNvPr id="148" name="Google Shape;148;p17"/>
          <p:cNvCxnSpPr/>
          <p:nvPr/>
        </p:nvCxnSpPr>
        <p:spPr>
          <a:xfrm flipH="1" rot="10800000">
            <a:off x="2026012" y="3618573"/>
            <a:ext cx="1707600" cy="1054500"/>
          </a:xfrm>
          <a:prstGeom prst="straightConnector1">
            <a:avLst/>
          </a:prstGeom>
          <a:noFill/>
          <a:ln cap="flat" cmpd="sng" w="6525">
            <a:solidFill>
              <a:srgbClr val="000000"/>
            </a:solidFill>
            <a:prstDash val="solid"/>
            <a:round/>
            <a:headEnd len="med" w="med" type="none"/>
            <a:tailEnd len="med" w="med" type="triangle"/>
          </a:ln>
        </p:spPr>
      </p:cxnSp>
      <p:sp>
        <p:nvSpPr>
          <p:cNvPr id="149" name="Google Shape;149;p17"/>
          <p:cNvSpPr txBox="1"/>
          <p:nvPr/>
        </p:nvSpPr>
        <p:spPr>
          <a:xfrm rot="-1833765">
            <a:off x="2288017" y="3936110"/>
            <a:ext cx="1183524" cy="242077"/>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response</a:t>
            </a:r>
            <a:endParaRPr sz="752"/>
          </a:p>
        </p:txBody>
      </p:sp>
      <p:sp>
        <p:nvSpPr>
          <p:cNvPr id="150" name="Google Shape;150;p17"/>
          <p:cNvSpPr/>
          <p:nvPr/>
        </p:nvSpPr>
        <p:spPr>
          <a:xfrm>
            <a:off x="1740229" y="2525565"/>
            <a:ext cx="1059000" cy="691800"/>
          </a:xfrm>
          <a:prstGeom prst="roundRect">
            <a:avLst>
              <a:gd fmla="val 16667" name="adj"/>
            </a:avLst>
          </a:prstGeom>
          <a:noFill/>
          <a:ln cap="flat" cmpd="sng" w="6525">
            <a:solidFill>
              <a:srgbClr val="000000"/>
            </a:solidFill>
            <a:prstDash val="solid"/>
            <a:round/>
            <a:headEnd len="sm" w="sm" type="none"/>
            <a:tailEnd len="sm" w="sm" type="none"/>
          </a:ln>
        </p:spPr>
        <p:txBody>
          <a:bodyPr anchorCtr="0" anchor="ctr" bIns="62500" lIns="62500" spcFirstLastPara="1" rIns="62500" wrap="square" tIns="62500">
            <a:noAutofit/>
          </a:bodyPr>
          <a:lstStyle/>
          <a:p>
            <a:pPr indent="0" lvl="0" marL="0" rtl="0" algn="ctr">
              <a:spcBef>
                <a:spcPts val="0"/>
              </a:spcBef>
              <a:spcAft>
                <a:spcPts val="0"/>
              </a:spcAft>
              <a:buNone/>
            </a:pPr>
            <a:r>
              <a:rPr lang="en-US" sz="957"/>
              <a:t>Dashboard</a:t>
            </a:r>
            <a:endParaRPr sz="957"/>
          </a:p>
        </p:txBody>
      </p:sp>
      <p:cxnSp>
        <p:nvCxnSpPr>
          <p:cNvPr id="151" name="Google Shape;151;p17"/>
          <p:cNvCxnSpPr/>
          <p:nvPr/>
        </p:nvCxnSpPr>
        <p:spPr>
          <a:xfrm rot="10800000">
            <a:off x="2808641" y="2639874"/>
            <a:ext cx="2061000" cy="1829100"/>
          </a:xfrm>
          <a:prstGeom prst="bentConnector3">
            <a:avLst>
              <a:gd fmla="val 0" name="adj1"/>
            </a:avLst>
          </a:prstGeom>
          <a:noFill/>
          <a:ln cap="flat" cmpd="sng" w="6525">
            <a:solidFill>
              <a:srgbClr val="000000"/>
            </a:solidFill>
            <a:prstDash val="solid"/>
            <a:round/>
            <a:headEnd len="med" w="med" type="none"/>
            <a:tailEnd len="med" w="med" type="triangle"/>
          </a:ln>
        </p:spPr>
      </p:cxnSp>
      <p:sp>
        <p:nvSpPr>
          <p:cNvPr id="152" name="Google Shape;152;p17"/>
          <p:cNvSpPr txBox="1"/>
          <p:nvPr/>
        </p:nvSpPr>
        <p:spPr>
          <a:xfrm>
            <a:off x="2842397" y="2397976"/>
            <a:ext cx="1979700" cy="242100"/>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information about vulnerabilities</a:t>
            </a:r>
            <a:endParaRPr sz="752"/>
          </a:p>
        </p:txBody>
      </p:sp>
      <p:cxnSp>
        <p:nvCxnSpPr>
          <p:cNvPr id="153" name="Google Shape;153;p17"/>
          <p:cNvCxnSpPr>
            <a:endCxn id="144" idx="0"/>
          </p:cNvCxnSpPr>
          <p:nvPr/>
        </p:nvCxnSpPr>
        <p:spPr>
          <a:xfrm flipH="1">
            <a:off x="4204249" y="2768330"/>
            <a:ext cx="5400" cy="448800"/>
          </a:xfrm>
          <a:prstGeom prst="straightConnector1">
            <a:avLst/>
          </a:prstGeom>
          <a:noFill/>
          <a:ln cap="flat" cmpd="sng" w="6525">
            <a:solidFill>
              <a:srgbClr val="000000"/>
            </a:solidFill>
            <a:prstDash val="solid"/>
            <a:round/>
            <a:headEnd len="med" w="med" type="none"/>
            <a:tailEnd len="med" w="med" type="triangle"/>
          </a:ln>
        </p:spPr>
      </p:cxnSp>
      <p:sp>
        <p:nvSpPr>
          <p:cNvPr id="154" name="Google Shape;154;p17"/>
          <p:cNvSpPr txBox="1"/>
          <p:nvPr/>
        </p:nvSpPr>
        <p:spPr>
          <a:xfrm>
            <a:off x="2842383" y="2732724"/>
            <a:ext cx="1183800" cy="242100"/>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configuration updates</a:t>
            </a:r>
            <a:endParaRPr sz="752"/>
          </a:p>
        </p:txBody>
      </p:sp>
      <p:cxnSp>
        <p:nvCxnSpPr>
          <p:cNvPr id="155" name="Google Shape;155;p17"/>
          <p:cNvCxnSpPr/>
          <p:nvPr/>
        </p:nvCxnSpPr>
        <p:spPr>
          <a:xfrm flipH="1" rot="10800000">
            <a:off x="2799297" y="2761391"/>
            <a:ext cx="1961400" cy="3900"/>
          </a:xfrm>
          <a:prstGeom prst="straightConnector1">
            <a:avLst/>
          </a:prstGeom>
          <a:noFill/>
          <a:ln cap="flat" cmpd="sng" w="6525">
            <a:solidFill>
              <a:srgbClr val="000000"/>
            </a:solidFill>
            <a:prstDash val="solid"/>
            <a:round/>
            <a:headEnd len="med" w="med" type="none"/>
            <a:tailEnd len="med" w="med" type="none"/>
          </a:ln>
        </p:spPr>
      </p:cxnSp>
      <p:cxnSp>
        <p:nvCxnSpPr>
          <p:cNvPr id="156" name="Google Shape;156;p17"/>
          <p:cNvCxnSpPr/>
          <p:nvPr/>
        </p:nvCxnSpPr>
        <p:spPr>
          <a:xfrm rot="10800000">
            <a:off x="4760795" y="2775181"/>
            <a:ext cx="20400" cy="1714200"/>
          </a:xfrm>
          <a:prstGeom prst="straightConnector1">
            <a:avLst/>
          </a:prstGeom>
          <a:noFill/>
          <a:ln cap="flat" cmpd="sng" w="6525">
            <a:solidFill>
              <a:srgbClr val="000000"/>
            </a:solidFill>
            <a:prstDash val="solid"/>
            <a:round/>
            <a:headEnd len="med" w="med" type="triangle"/>
            <a:tailEnd len="med" w="med" type="none"/>
          </a:ln>
        </p:spPr>
      </p:cxnSp>
      <p:cxnSp>
        <p:nvCxnSpPr>
          <p:cNvPr id="157" name="Google Shape;157;p17"/>
          <p:cNvCxnSpPr/>
          <p:nvPr/>
        </p:nvCxnSpPr>
        <p:spPr>
          <a:xfrm flipH="1" rot="10800000">
            <a:off x="4306329" y="2632130"/>
            <a:ext cx="5400" cy="585000"/>
          </a:xfrm>
          <a:prstGeom prst="straightConnector1">
            <a:avLst/>
          </a:prstGeom>
          <a:noFill/>
          <a:ln cap="flat" cmpd="sng" w="6525">
            <a:solidFill>
              <a:srgbClr val="000000"/>
            </a:solidFill>
            <a:prstDash val="solid"/>
            <a:round/>
            <a:headEnd len="med" w="med" type="none"/>
            <a:tailEnd len="med" w="med" type="none"/>
          </a:ln>
        </p:spPr>
      </p:cxnSp>
      <p:sp>
        <p:nvSpPr>
          <p:cNvPr id="158" name="Google Shape;158;p17"/>
          <p:cNvSpPr/>
          <p:nvPr/>
        </p:nvSpPr>
        <p:spPr>
          <a:xfrm>
            <a:off x="361525" y="3257942"/>
            <a:ext cx="945600" cy="1105500"/>
          </a:xfrm>
          <a:prstGeom prst="roundRect">
            <a:avLst>
              <a:gd fmla="val 16667" name="adj"/>
            </a:avLst>
          </a:prstGeom>
          <a:noFill/>
          <a:ln cap="flat" cmpd="sng" w="6525">
            <a:solidFill>
              <a:srgbClr val="000000"/>
            </a:solidFill>
            <a:prstDash val="solid"/>
            <a:round/>
            <a:headEnd len="sm" w="sm" type="none"/>
            <a:tailEnd len="sm" w="sm" type="none"/>
          </a:ln>
        </p:spPr>
        <p:txBody>
          <a:bodyPr anchorCtr="0" anchor="ctr" bIns="62500" lIns="62500" spcFirstLastPara="1" rIns="62500" wrap="square" tIns="62500">
            <a:noAutofit/>
          </a:bodyPr>
          <a:lstStyle/>
          <a:p>
            <a:pPr indent="0" lvl="0" marL="0" rtl="0" algn="ctr">
              <a:spcBef>
                <a:spcPts val="0"/>
              </a:spcBef>
              <a:spcAft>
                <a:spcPts val="0"/>
              </a:spcAft>
              <a:buNone/>
            </a:pPr>
            <a:r>
              <a:rPr lang="en-US" sz="957"/>
              <a:t>User</a:t>
            </a:r>
            <a:endParaRPr sz="957"/>
          </a:p>
        </p:txBody>
      </p:sp>
      <p:cxnSp>
        <p:nvCxnSpPr>
          <p:cNvPr id="159" name="Google Shape;159;p17"/>
          <p:cNvCxnSpPr>
            <a:stCxn id="158" idx="0"/>
            <a:endCxn id="150" idx="1"/>
          </p:cNvCxnSpPr>
          <p:nvPr/>
        </p:nvCxnSpPr>
        <p:spPr>
          <a:xfrm flipH="1" rot="10800000">
            <a:off x="834325" y="2871542"/>
            <a:ext cx="906000" cy="386400"/>
          </a:xfrm>
          <a:prstGeom prst="straightConnector1">
            <a:avLst/>
          </a:prstGeom>
          <a:noFill/>
          <a:ln cap="flat" cmpd="sng" w="6525">
            <a:solidFill>
              <a:srgbClr val="000000"/>
            </a:solidFill>
            <a:prstDash val="solid"/>
            <a:round/>
            <a:headEnd len="med" w="med" type="triangle"/>
            <a:tailEnd len="med" w="med" type="none"/>
          </a:ln>
        </p:spPr>
      </p:cxnSp>
      <p:cxnSp>
        <p:nvCxnSpPr>
          <p:cNvPr id="160" name="Google Shape;160;p17"/>
          <p:cNvCxnSpPr/>
          <p:nvPr/>
        </p:nvCxnSpPr>
        <p:spPr>
          <a:xfrm flipH="1">
            <a:off x="1093790" y="3019962"/>
            <a:ext cx="666900" cy="238200"/>
          </a:xfrm>
          <a:prstGeom prst="straightConnector1">
            <a:avLst/>
          </a:prstGeom>
          <a:noFill/>
          <a:ln cap="flat" cmpd="sng" w="6525">
            <a:solidFill>
              <a:srgbClr val="000000"/>
            </a:solidFill>
            <a:prstDash val="solid"/>
            <a:round/>
            <a:headEnd len="med" w="med" type="triangle"/>
            <a:tailEnd len="med" w="med" type="none"/>
          </a:ln>
        </p:spPr>
      </p:cxnSp>
      <p:cxnSp>
        <p:nvCxnSpPr>
          <p:cNvPr id="161" name="Google Shape;161;p17"/>
          <p:cNvCxnSpPr>
            <a:stCxn id="158" idx="2"/>
            <a:endCxn id="138" idx="1"/>
          </p:cNvCxnSpPr>
          <p:nvPr/>
        </p:nvCxnSpPr>
        <p:spPr>
          <a:xfrm>
            <a:off x="834325" y="4363442"/>
            <a:ext cx="906000" cy="651600"/>
          </a:xfrm>
          <a:prstGeom prst="straightConnector1">
            <a:avLst/>
          </a:prstGeom>
          <a:noFill/>
          <a:ln cap="flat" cmpd="sng" w="6525">
            <a:solidFill>
              <a:srgbClr val="000000"/>
            </a:solidFill>
            <a:prstDash val="solid"/>
            <a:round/>
            <a:headEnd len="med" w="med" type="none"/>
            <a:tailEnd len="med" w="med" type="triangle"/>
          </a:ln>
        </p:spPr>
      </p:cxnSp>
      <p:sp>
        <p:nvSpPr>
          <p:cNvPr id="162" name="Google Shape;162;p17"/>
          <p:cNvSpPr txBox="1"/>
          <p:nvPr/>
        </p:nvSpPr>
        <p:spPr>
          <a:xfrm rot="-1360713">
            <a:off x="673472" y="2692513"/>
            <a:ext cx="1058977" cy="357693"/>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alerts, summaries, and tutorials</a:t>
            </a:r>
            <a:endParaRPr sz="752"/>
          </a:p>
        </p:txBody>
      </p:sp>
      <p:sp>
        <p:nvSpPr>
          <p:cNvPr id="163" name="Google Shape;163;p17"/>
          <p:cNvSpPr txBox="1"/>
          <p:nvPr/>
        </p:nvSpPr>
        <p:spPr>
          <a:xfrm rot="-1567882">
            <a:off x="1196693" y="3122313"/>
            <a:ext cx="779918" cy="473479"/>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queries &amp;</a:t>
            </a:r>
            <a:endParaRPr sz="752"/>
          </a:p>
          <a:p>
            <a:pPr indent="0" lvl="0" marL="0" rtl="0" algn="ctr">
              <a:spcBef>
                <a:spcPts val="0"/>
              </a:spcBef>
              <a:spcAft>
                <a:spcPts val="0"/>
              </a:spcAft>
              <a:buNone/>
            </a:pPr>
            <a:r>
              <a:rPr lang="en-US" sz="752"/>
              <a:t>configuration updates</a:t>
            </a:r>
            <a:endParaRPr sz="752"/>
          </a:p>
        </p:txBody>
      </p:sp>
      <p:sp>
        <p:nvSpPr>
          <p:cNvPr id="164" name="Google Shape;164;p17"/>
          <p:cNvSpPr txBox="1"/>
          <p:nvPr/>
        </p:nvSpPr>
        <p:spPr>
          <a:xfrm rot="2140566">
            <a:off x="563286" y="4692323"/>
            <a:ext cx="1183637" cy="357672"/>
          </a:xfrm>
          <a:prstGeom prst="rect">
            <a:avLst/>
          </a:prstGeom>
          <a:noFill/>
          <a:ln>
            <a:noFill/>
          </a:ln>
        </p:spPr>
        <p:txBody>
          <a:bodyPr anchorCtr="0" anchor="t" bIns="62500" lIns="62500" spcFirstLastPara="1" rIns="62500" wrap="square" tIns="62500">
            <a:spAutoFit/>
          </a:bodyPr>
          <a:lstStyle/>
          <a:p>
            <a:pPr indent="0" lvl="0" marL="0" rtl="0" algn="ctr">
              <a:spcBef>
                <a:spcPts val="0"/>
              </a:spcBef>
              <a:spcAft>
                <a:spcPts val="0"/>
              </a:spcAft>
              <a:buNone/>
            </a:pPr>
            <a:r>
              <a:rPr lang="en-US" sz="752"/>
              <a:t>perform password and security updates</a:t>
            </a:r>
            <a:endParaRPr sz="752"/>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18"/>
          <p:cNvSpPr txBox="1"/>
          <p:nvPr>
            <p:ph type="title"/>
          </p:nvPr>
        </p:nvSpPr>
        <p:spPr>
          <a:xfrm>
            <a:off x="532953" y="305491"/>
            <a:ext cx="4491900" cy="1616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sz="3200"/>
              <a:t>Accessible Home Cybersecurity Kit: Fundamental Principles</a:t>
            </a:r>
            <a:endParaRPr/>
          </a:p>
        </p:txBody>
      </p:sp>
      <p:grpSp>
        <p:nvGrpSpPr>
          <p:cNvPr id="170" name="Google Shape;170;p18"/>
          <p:cNvGrpSpPr/>
          <p:nvPr/>
        </p:nvGrpSpPr>
        <p:grpSpPr>
          <a:xfrm>
            <a:off x="0" y="0"/>
            <a:ext cx="123300" cy="6858006"/>
            <a:chOff x="12068638" y="0"/>
            <a:chExt cx="123300" cy="6858006"/>
          </a:xfrm>
        </p:grpSpPr>
        <p:sp>
          <p:nvSpPr>
            <p:cNvPr id="171" name="Google Shape;171;p18"/>
            <p:cNvSpPr/>
            <p:nvPr/>
          </p:nvSpPr>
          <p:spPr>
            <a:xfrm>
              <a:off x="12068638" y="0"/>
              <a:ext cx="123300" cy="6858000"/>
            </a:xfrm>
            <a:prstGeom prst="rect">
              <a:avLst/>
            </a:prstGeom>
            <a:gradFill>
              <a:gsLst>
                <a:gs pos="0">
                  <a:schemeClr val="accent2"/>
                </a:gs>
                <a:gs pos="100000">
                  <a:schemeClr val="accent5"/>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2" name="Google Shape;172;p18"/>
            <p:cNvSpPr/>
            <p:nvPr/>
          </p:nvSpPr>
          <p:spPr>
            <a:xfrm>
              <a:off x="12068638" y="4139706"/>
              <a:ext cx="123300" cy="2718300"/>
            </a:xfrm>
            <a:prstGeom prst="rect">
              <a:avLst/>
            </a:prstGeom>
            <a:gradFill>
              <a:gsLst>
                <a:gs pos="0">
                  <a:srgbClr val="A02B93">
                    <a:alpha val="0"/>
                  </a:srgbClr>
                </a:gs>
                <a:gs pos="19000">
                  <a:srgbClr val="A02B93">
                    <a:alpha val="0"/>
                  </a:srgbClr>
                </a:gs>
                <a:gs pos="100000">
                  <a:srgbClr val="D86CCC"/>
                </a:gs>
              </a:gsLst>
              <a:lin ang="59988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73" name="Google Shape;173;p18"/>
          <p:cNvSpPr txBox="1"/>
          <p:nvPr>
            <p:ph idx="1" type="body"/>
          </p:nvPr>
        </p:nvSpPr>
        <p:spPr>
          <a:xfrm>
            <a:off x="6081125" y="305500"/>
            <a:ext cx="5998800" cy="6282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None/>
            </a:pPr>
            <a:r>
              <a:t/>
            </a:r>
            <a:endParaRPr b="1" sz="2000"/>
          </a:p>
          <a:p>
            <a:pPr indent="-355600" lvl="0" marL="457200" rtl="0" algn="l">
              <a:lnSpc>
                <a:spcPct val="115000"/>
              </a:lnSpc>
              <a:spcBef>
                <a:spcPts val="0"/>
              </a:spcBef>
              <a:spcAft>
                <a:spcPts val="0"/>
              </a:spcAft>
              <a:buSzPts val="2000"/>
              <a:buChar char="•"/>
            </a:pPr>
            <a:r>
              <a:rPr b="1" lang="en-US" sz="2000"/>
              <a:t>Comprehensive Cyber Protection:</a:t>
            </a:r>
            <a:r>
              <a:rPr lang="en-US" sz="2000"/>
              <a:t> the HSH provides a layer of cyber security (by filtering IoT packets and testing for vulnerabilities) for </a:t>
            </a:r>
            <a:r>
              <a:rPr i="1" lang="en-US" sz="2000"/>
              <a:t>every device in the network</a:t>
            </a:r>
            <a:br>
              <a:rPr i="1" lang="en-US" sz="2000"/>
            </a:br>
            <a:endParaRPr i="1" sz="2000"/>
          </a:p>
          <a:p>
            <a:pPr indent="-355600" lvl="0" marL="457200" rtl="0" algn="l">
              <a:lnSpc>
                <a:spcPct val="115000"/>
              </a:lnSpc>
              <a:spcBef>
                <a:spcPts val="0"/>
              </a:spcBef>
              <a:spcAft>
                <a:spcPts val="0"/>
              </a:spcAft>
              <a:buSzPts val="2000"/>
              <a:buChar char="•"/>
            </a:pPr>
            <a:r>
              <a:rPr b="1" lang="en-US" sz="2000"/>
              <a:t>Unnecessary = Unwanted: </a:t>
            </a:r>
            <a:r>
              <a:rPr lang="en-US" sz="2000"/>
              <a:t>Don’t leave a connection or vulnerability (such as an internet port or webcam) available if it is not useful to the user. The HSH filters external traffic to prevent malware, the physical accessories restrain cameras and devices to protect privacy.</a:t>
            </a:r>
            <a:br>
              <a:rPr lang="en-US" sz="2000"/>
            </a:br>
            <a:endParaRPr sz="2000"/>
          </a:p>
          <a:p>
            <a:pPr indent="-355600" lvl="0" marL="457200" rtl="0" algn="l">
              <a:lnSpc>
                <a:spcPct val="115000"/>
              </a:lnSpc>
              <a:spcBef>
                <a:spcPts val="0"/>
              </a:spcBef>
              <a:spcAft>
                <a:spcPts val="0"/>
              </a:spcAft>
              <a:buSzPts val="2000"/>
              <a:buChar char="•"/>
            </a:pPr>
            <a:r>
              <a:rPr b="1" lang="en-US" sz="2000"/>
              <a:t>Involve the User:</a:t>
            </a:r>
            <a:r>
              <a:rPr lang="en-US" sz="2000"/>
              <a:t> The user understands best which functionality they actually use and what is unnecessary. Meanwhile, the dashboard shows the user why and how to integrate security best practices like strong and unique passwords.</a:t>
            </a:r>
            <a:endParaRPr sz="2000"/>
          </a:p>
        </p:txBody>
      </p:sp>
      <p:pic>
        <p:nvPicPr>
          <p:cNvPr id="174" name="Google Shape;174;p18"/>
          <p:cNvPicPr preferRelativeResize="0"/>
          <p:nvPr/>
        </p:nvPicPr>
        <p:blipFill rotWithShape="1">
          <a:blip r:embed="rId3">
            <a:alphaModFix/>
          </a:blip>
          <a:srcRect b="5526" l="13238" r="25893" t="0"/>
          <a:stretch/>
        </p:blipFill>
        <p:spPr>
          <a:xfrm>
            <a:off x="123300" y="2232800"/>
            <a:ext cx="5297776" cy="4625325"/>
          </a:xfrm>
          <a:prstGeom prst="rect">
            <a:avLst/>
          </a:prstGeom>
          <a:noFill/>
          <a:ln>
            <a:noFill/>
          </a:ln>
        </p:spPr>
      </p:pic>
      <p:grpSp>
        <p:nvGrpSpPr>
          <p:cNvPr id="175" name="Google Shape;175;p18"/>
          <p:cNvGrpSpPr/>
          <p:nvPr/>
        </p:nvGrpSpPr>
        <p:grpSpPr>
          <a:xfrm>
            <a:off x="5421075" y="0"/>
            <a:ext cx="123300" cy="6858006"/>
            <a:chOff x="12068638" y="0"/>
            <a:chExt cx="123300" cy="6858006"/>
          </a:xfrm>
        </p:grpSpPr>
        <p:sp>
          <p:nvSpPr>
            <p:cNvPr id="176" name="Google Shape;176;p18"/>
            <p:cNvSpPr/>
            <p:nvPr/>
          </p:nvSpPr>
          <p:spPr>
            <a:xfrm>
              <a:off x="12068638" y="0"/>
              <a:ext cx="123300" cy="6858000"/>
            </a:xfrm>
            <a:prstGeom prst="rect">
              <a:avLst/>
            </a:prstGeom>
            <a:gradFill>
              <a:gsLst>
                <a:gs pos="0">
                  <a:schemeClr val="accent2"/>
                </a:gs>
                <a:gs pos="100000">
                  <a:schemeClr val="accent5"/>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7" name="Google Shape;177;p18"/>
            <p:cNvSpPr/>
            <p:nvPr/>
          </p:nvSpPr>
          <p:spPr>
            <a:xfrm>
              <a:off x="12068638" y="4139706"/>
              <a:ext cx="123300" cy="2718300"/>
            </a:xfrm>
            <a:prstGeom prst="rect">
              <a:avLst/>
            </a:prstGeom>
            <a:gradFill>
              <a:gsLst>
                <a:gs pos="0">
                  <a:srgbClr val="A02B93">
                    <a:alpha val="0"/>
                  </a:srgbClr>
                </a:gs>
                <a:gs pos="19000">
                  <a:srgbClr val="A02B93">
                    <a:alpha val="0"/>
                  </a:srgbClr>
                </a:gs>
                <a:gs pos="100000">
                  <a:srgbClr val="D86CCC"/>
                </a:gs>
              </a:gsLst>
              <a:lin ang="59988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1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3" name="Google Shape;183;p19"/>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4" name="Google Shape;184;p19"/>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Play"/>
              <a:buNone/>
            </a:pPr>
            <a:r>
              <a:rPr lang="en-US">
                <a:solidFill>
                  <a:srgbClr val="FFFFFF"/>
                </a:solidFill>
              </a:rPr>
              <a:t>Conclusion</a:t>
            </a:r>
            <a:endParaRPr/>
          </a:p>
        </p:txBody>
      </p:sp>
      <p:sp>
        <p:nvSpPr>
          <p:cNvPr id="185" name="Google Shape;185;p19"/>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19"/>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US"/>
              <a:t>Cybersecurity tools must be</a:t>
            </a:r>
            <a:endParaRPr/>
          </a:p>
          <a:p>
            <a:pPr indent="-342900" lvl="1" marL="914400" rtl="0" algn="l">
              <a:lnSpc>
                <a:spcPct val="90000"/>
              </a:lnSpc>
              <a:spcBef>
                <a:spcPts val="0"/>
              </a:spcBef>
              <a:spcAft>
                <a:spcPts val="0"/>
              </a:spcAft>
              <a:buSzPts val="1800"/>
              <a:buChar char="•"/>
            </a:pPr>
            <a:r>
              <a:rPr lang="en-US"/>
              <a:t>Comprehensive</a:t>
            </a:r>
            <a:endParaRPr/>
          </a:p>
          <a:p>
            <a:pPr indent="-342900" lvl="1" marL="914400" rtl="0" algn="l">
              <a:lnSpc>
                <a:spcPct val="90000"/>
              </a:lnSpc>
              <a:spcBef>
                <a:spcPts val="0"/>
              </a:spcBef>
              <a:spcAft>
                <a:spcPts val="0"/>
              </a:spcAft>
              <a:buSzPts val="1800"/>
              <a:buChar char="•"/>
            </a:pPr>
            <a:r>
              <a:rPr lang="en-US"/>
              <a:t>Affordable</a:t>
            </a:r>
            <a:endParaRPr/>
          </a:p>
          <a:p>
            <a:pPr indent="-342900" lvl="1" marL="914400" rtl="0" algn="l">
              <a:lnSpc>
                <a:spcPct val="90000"/>
              </a:lnSpc>
              <a:spcBef>
                <a:spcPts val="0"/>
              </a:spcBef>
              <a:spcAft>
                <a:spcPts val="0"/>
              </a:spcAft>
              <a:buSzPts val="1800"/>
              <a:buChar char="•"/>
            </a:pPr>
            <a:r>
              <a:rPr lang="en-US"/>
              <a:t>Accessible</a:t>
            </a:r>
            <a:endParaRPr/>
          </a:p>
          <a:p>
            <a:pPr indent="0" lvl="0" marL="0" rtl="0" algn="l">
              <a:lnSpc>
                <a:spcPct val="90000"/>
              </a:lnSpc>
              <a:spcBef>
                <a:spcPts val="0"/>
              </a:spcBef>
              <a:spcAft>
                <a:spcPts val="0"/>
              </a:spcAft>
              <a:buNone/>
            </a:pPr>
            <a:r>
              <a:t/>
            </a:r>
            <a:endParaRPr/>
          </a:p>
          <a:p>
            <a:pPr indent="-342900" lvl="0" marL="457200" rtl="0" algn="l">
              <a:lnSpc>
                <a:spcPct val="90000"/>
              </a:lnSpc>
              <a:spcBef>
                <a:spcPts val="0"/>
              </a:spcBef>
              <a:spcAft>
                <a:spcPts val="0"/>
              </a:spcAft>
              <a:buSzPts val="1800"/>
              <a:buChar char="•"/>
            </a:pPr>
            <a:r>
              <a:rPr lang="en-US"/>
              <a:t>Our kit addresses this and provides</a:t>
            </a:r>
            <a:endParaRPr/>
          </a:p>
          <a:p>
            <a:pPr indent="-342900" lvl="1" marL="914400" rtl="0" algn="l">
              <a:lnSpc>
                <a:spcPct val="90000"/>
              </a:lnSpc>
              <a:spcBef>
                <a:spcPts val="0"/>
              </a:spcBef>
              <a:spcAft>
                <a:spcPts val="0"/>
              </a:spcAft>
              <a:buSzPts val="1800"/>
              <a:buChar char="•"/>
            </a:pPr>
            <a:r>
              <a:rPr lang="en-US"/>
              <a:t>Targeted feedback</a:t>
            </a:r>
            <a:endParaRPr/>
          </a:p>
          <a:p>
            <a:pPr indent="-342900" lvl="1" marL="914400" rtl="0" algn="l">
              <a:lnSpc>
                <a:spcPct val="90000"/>
              </a:lnSpc>
              <a:spcBef>
                <a:spcPts val="0"/>
              </a:spcBef>
              <a:spcAft>
                <a:spcPts val="0"/>
              </a:spcAft>
              <a:buSzPts val="1800"/>
              <a:buChar char="•"/>
            </a:pPr>
            <a:r>
              <a:rPr lang="en-US"/>
              <a:t>Customizable protection</a:t>
            </a:r>
            <a:endParaRPr/>
          </a:p>
          <a:p>
            <a:pPr indent="-342900" lvl="1" marL="914400" rtl="0" algn="l">
              <a:lnSpc>
                <a:spcPct val="90000"/>
              </a:lnSpc>
              <a:spcBef>
                <a:spcPts val="0"/>
              </a:spcBef>
              <a:spcAft>
                <a:spcPts val="0"/>
              </a:spcAft>
              <a:buSzPts val="1800"/>
              <a:buChar char="•"/>
            </a:pPr>
            <a:r>
              <a:rPr lang="en-US"/>
              <a:t>Cybersecurity Education</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t/>
            </a:r>
            <a:endParaRPr/>
          </a:p>
          <a:p>
            <a:pPr indent="0" lvl="0" marL="0" rtl="0" algn="ctr">
              <a:lnSpc>
                <a:spcPct val="90000"/>
              </a:lnSpc>
              <a:spcBef>
                <a:spcPts val="0"/>
              </a:spcBef>
              <a:spcAft>
                <a:spcPts val="0"/>
              </a:spcAft>
              <a:buNone/>
            </a:pPr>
            <a:r>
              <a:rPr lang="en-US"/>
              <a:t>Thank you for your time.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Works Cited</a:t>
            </a:r>
            <a:endParaRPr/>
          </a:p>
        </p:txBody>
      </p:sp>
      <p:sp>
        <p:nvSpPr>
          <p:cNvPr id="192" name="Google Shape;192;p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chemeClr val="dk1"/>
              </a:buClr>
              <a:buSzPts val="1100"/>
              <a:buFont typeface="Arial"/>
              <a:buNone/>
            </a:pPr>
            <a:r>
              <a:rPr lang="en-US" sz="1200">
                <a:highlight>
                  <a:srgbClr val="FFFFFF"/>
                </a:highlight>
                <a:latin typeface="Times New Roman"/>
                <a:ea typeface="Times New Roman"/>
                <a:cs typeface="Times New Roman"/>
                <a:sym typeface="Times New Roman"/>
              </a:rPr>
              <a:t>[1] F. Breitinger, J. Ricci, I. Baggilli,  “Survey Results on Adults and Cybersecurity Education”, </a:t>
            </a:r>
            <a:r>
              <a:rPr i="1" lang="en-US" sz="1200">
                <a:highlight>
                  <a:srgbClr val="FFFFFF"/>
                </a:highlight>
                <a:latin typeface="Times New Roman"/>
                <a:ea typeface="Times New Roman"/>
                <a:cs typeface="Times New Roman"/>
                <a:sym typeface="Times New Roman"/>
              </a:rPr>
              <a:t>Education and Information Technologies</a:t>
            </a:r>
            <a:r>
              <a:rPr lang="en-US" sz="1200">
                <a:highlight>
                  <a:srgbClr val="FFFFFF"/>
                </a:highlight>
                <a:latin typeface="Times New Roman"/>
                <a:ea typeface="Times New Roman"/>
                <a:cs typeface="Times New Roman"/>
                <a:sym typeface="Times New Roman"/>
              </a:rPr>
              <a:t>, vol 24, pp 231-249, Jul 2019, doi: 10.1007/s10639-018-9765-8</a:t>
            </a:r>
            <a:endParaRPr sz="1200">
              <a:highlight>
                <a:srgbClr val="FFFFFF"/>
              </a:highlight>
              <a:latin typeface="Times New Roman"/>
              <a:ea typeface="Times New Roman"/>
              <a:cs typeface="Times New Roman"/>
              <a:sym typeface="Times New Roman"/>
            </a:endParaRPr>
          </a:p>
          <a:p>
            <a:pPr indent="0" lvl="0" marL="0" marR="0" rtl="0" algn="l">
              <a:lnSpc>
                <a:spcPct val="200000"/>
              </a:lnSpc>
              <a:spcBef>
                <a:spcPts val="0"/>
              </a:spcBef>
              <a:spcAft>
                <a:spcPts val="0"/>
              </a:spcAft>
              <a:buClr>
                <a:schemeClr val="dk1"/>
              </a:buClr>
              <a:buSzPts val="1100"/>
              <a:buFont typeface="Arial"/>
              <a:buNone/>
            </a:pPr>
            <a:r>
              <a:rPr lang="en-US" sz="1200">
                <a:highlight>
                  <a:srgbClr val="FFFFFF"/>
                </a:highlight>
                <a:latin typeface="Times New Roman"/>
                <a:ea typeface="Times New Roman"/>
                <a:cs typeface="Times New Roman"/>
                <a:sym typeface="Times New Roman"/>
              </a:rPr>
              <a:t>[2] Netgear Security Team, “The 2024 IoT Security Landscape Report - NETGEAR”, </a:t>
            </a:r>
            <a:r>
              <a:rPr i="1" lang="en-US" sz="1200">
                <a:highlight>
                  <a:srgbClr val="FFFFFF"/>
                </a:highlight>
                <a:latin typeface="Times New Roman"/>
                <a:ea typeface="Times New Roman"/>
                <a:cs typeface="Times New Roman"/>
                <a:sym typeface="Times New Roman"/>
              </a:rPr>
              <a:t>Netgear.com</a:t>
            </a:r>
            <a:r>
              <a:rPr lang="en-US" sz="1200">
                <a:highlight>
                  <a:srgbClr val="FFFFFF"/>
                </a:highlight>
                <a:latin typeface="Times New Roman"/>
                <a:ea typeface="Times New Roman"/>
                <a:cs typeface="Times New Roman"/>
                <a:sym typeface="Times New Roman"/>
              </a:rPr>
              <a:t>, </a:t>
            </a:r>
            <a:r>
              <a:rPr lang="en-US" sz="1200" u="sng">
                <a:solidFill>
                  <a:srgbClr val="1155CC"/>
                </a:solidFill>
                <a:highlight>
                  <a:srgbClr val="FFFFFF"/>
                </a:highlight>
                <a:latin typeface="Times New Roman"/>
                <a:ea typeface="Times New Roman"/>
                <a:cs typeface="Times New Roman"/>
                <a:sym typeface="Times New Roman"/>
                <a:hlinkClick r:id="rId3">
                  <a:extLst>
                    <a:ext uri="{A12FA001-AC4F-418D-AE19-62706E023703}">
                      <ahyp:hlinkClr val="tx"/>
                    </a:ext>
                  </a:extLst>
                </a:hlinkClick>
              </a:rPr>
              <a:t>https://www.netgear.com/hub/network/2024-iot-threat-report/</a:t>
            </a:r>
            <a:r>
              <a:rPr lang="en-US" sz="1200">
                <a:highlight>
                  <a:srgbClr val="FFFFFF"/>
                </a:highlight>
                <a:latin typeface="Times New Roman"/>
                <a:ea typeface="Times New Roman"/>
                <a:cs typeface="Times New Roman"/>
                <a:sym typeface="Times New Roman"/>
              </a:rPr>
              <a:t> (accessed Dec. 7, 2025).</a:t>
            </a:r>
            <a:endParaRPr sz="1200">
              <a:highlight>
                <a:srgbClr val="FFFFFF"/>
              </a:highlight>
              <a:latin typeface="Times New Roman"/>
              <a:ea typeface="Times New Roman"/>
              <a:cs typeface="Times New Roman"/>
              <a:sym typeface="Times New Roman"/>
            </a:endParaRPr>
          </a:p>
          <a:p>
            <a:pPr indent="0" lvl="0" marL="0" marR="0" rtl="0" algn="l">
              <a:lnSpc>
                <a:spcPct val="200000"/>
              </a:lnSpc>
              <a:spcBef>
                <a:spcPts val="0"/>
              </a:spcBef>
              <a:spcAft>
                <a:spcPts val="0"/>
              </a:spcAft>
              <a:buClr>
                <a:schemeClr val="dk1"/>
              </a:buClr>
              <a:buSzPts val="1100"/>
              <a:buFont typeface="Arial"/>
              <a:buNone/>
            </a:pPr>
            <a:r>
              <a:rPr lang="en-US" sz="1200">
                <a:highlight>
                  <a:srgbClr val="FFFFFF"/>
                </a:highlight>
                <a:latin typeface="Times New Roman"/>
                <a:ea typeface="Times New Roman"/>
                <a:cs typeface="Times New Roman"/>
                <a:sym typeface="Times New Roman"/>
              </a:rPr>
              <a:t>[3] </a:t>
            </a:r>
            <a:r>
              <a:rPr lang="en-US" sz="1200">
                <a:latin typeface="Times New Roman"/>
                <a:ea typeface="Times New Roman"/>
                <a:cs typeface="Times New Roman"/>
                <a:sym typeface="Times New Roman"/>
              </a:rPr>
              <a:t>“What is a Raspberry Pi?,” </a:t>
            </a:r>
            <a:r>
              <a:rPr i="1" lang="en-US" sz="1200">
                <a:latin typeface="Times New Roman"/>
                <a:ea typeface="Times New Roman"/>
                <a:cs typeface="Times New Roman"/>
                <a:sym typeface="Times New Roman"/>
              </a:rPr>
              <a:t>Opensource.com</a:t>
            </a:r>
            <a:r>
              <a:rPr lang="en-US" sz="1200">
                <a:latin typeface="Times New Roman"/>
                <a:ea typeface="Times New Roman"/>
                <a:cs typeface="Times New Roman"/>
                <a:sym typeface="Times New Roman"/>
              </a:rPr>
              <a:t>, 2012. </a:t>
            </a:r>
            <a:r>
              <a:rPr lang="en-US"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https://opensource.com/resources/raspberry-pi</a:t>
            </a:r>
            <a:r>
              <a:rPr lang="en-US" sz="1200">
                <a:highlight>
                  <a:srgbClr val="FFFFFF"/>
                </a:highlight>
                <a:latin typeface="Times New Roman"/>
                <a:ea typeface="Times New Roman"/>
                <a:cs typeface="Times New Roman"/>
                <a:sym typeface="Times New Roman"/>
              </a:rPr>
              <a:t> (accessed Nov. 14, 2025).</a:t>
            </a:r>
            <a:endParaRPr sz="1200">
              <a:highlight>
                <a:srgbClr val="FFFFFF"/>
              </a:highlight>
              <a:latin typeface="Times New Roman"/>
              <a:ea typeface="Times New Roman"/>
              <a:cs typeface="Times New Roman"/>
              <a:sym typeface="Times New Roman"/>
            </a:endParaRPr>
          </a:p>
          <a:p>
            <a:pPr indent="0" lvl="0" marL="0" marR="0" rtl="0" algn="l">
              <a:lnSpc>
                <a:spcPct val="200000"/>
              </a:lnSpc>
              <a:spcBef>
                <a:spcPts val="0"/>
              </a:spcBef>
              <a:spcAft>
                <a:spcPts val="0"/>
              </a:spcAft>
              <a:buClr>
                <a:schemeClr val="dk1"/>
              </a:buClr>
              <a:buSzPts val="1100"/>
              <a:buFont typeface="Arial"/>
              <a:buNone/>
            </a:pPr>
            <a:r>
              <a:rPr lang="en-US" sz="1200">
                <a:highlight>
                  <a:srgbClr val="FFFFFF"/>
                </a:highlight>
                <a:latin typeface="Times New Roman"/>
                <a:ea typeface="Times New Roman"/>
                <a:cs typeface="Times New Roman"/>
                <a:sym typeface="Times New Roman"/>
              </a:rPr>
              <a:t>[4] </a:t>
            </a:r>
            <a:r>
              <a:rPr lang="en-US" sz="1200">
                <a:latin typeface="Times New Roman"/>
                <a:ea typeface="Times New Roman"/>
                <a:cs typeface="Times New Roman"/>
                <a:sym typeface="Times New Roman"/>
              </a:rPr>
              <a:t>Fortinet, “What is IoT Security?,” </a:t>
            </a:r>
            <a:r>
              <a:rPr i="1" lang="en-US" sz="1200">
                <a:latin typeface="Times New Roman"/>
                <a:ea typeface="Times New Roman"/>
                <a:cs typeface="Times New Roman"/>
                <a:sym typeface="Times New Roman"/>
              </a:rPr>
              <a:t>Fortinet</a:t>
            </a:r>
            <a:r>
              <a:rPr lang="en-US" sz="1200">
                <a:latin typeface="Times New Roman"/>
                <a:ea typeface="Times New Roman"/>
                <a:cs typeface="Times New Roman"/>
                <a:sym typeface="Times New Roman"/>
              </a:rPr>
              <a:t>, 2022. </a:t>
            </a:r>
            <a:r>
              <a:rPr lang="en-US"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https://www.fortinet.com/resources/cyberglossary/iot-security</a:t>
            </a:r>
            <a:endParaRPr sz="1200">
              <a:highlight>
                <a:srgbClr val="FFFFFF"/>
              </a:highlight>
              <a:latin typeface="Times New Roman"/>
              <a:ea typeface="Times New Roman"/>
              <a:cs typeface="Times New Roman"/>
              <a:sym typeface="Times New Roman"/>
            </a:endParaRPr>
          </a:p>
          <a:p>
            <a:pPr indent="0" lvl="0" marL="0" marR="0" rtl="0" algn="l">
              <a:lnSpc>
                <a:spcPct val="200000"/>
              </a:lnSpc>
              <a:spcBef>
                <a:spcPts val="0"/>
              </a:spcBef>
              <a:spcAft>
                <a:spcPts val="0"/>
              </a:spcAft>
              <a:buClr>
                <a:schemeClr val="dk1"/>
              </a:buClr>
              <a:buSzPts val="1100"/>
              <a:buFont typeface="Arial"/>
              <a:buNone/>
            </a:pPr>
            <a:r>
              <a:rPr lang="en-US" sz="1200">
                <a:highlight>
                  <a:srgbClr val="FFFFFF"/>
                </a:highlight>
                <a:latin typeface="Times New Roman"/>
                <a:ea typeface="Times New Roman"/>
                <a:cs typeface="Times New Roman"/>
                <a:sym typeface="Times New Roman"/>
              </a:rPr>
              <a:t>[5] </a:t>
            </a:r>
            <a:r>
              <a:rPr lang="en-US" sz="1200">
                <a:latin typeface="Times New Roman"/>
                <a:ea typeface="Times New Roman"/>
                <a:cs typeface="Times New Roman"/>
                <a:sym typeface="Times New Roman"/>
              </a:rPr>
              <a:t> K. Y. Najmi, M. A. AlZain, M. Masud, N. Z. Jhanjhi, J. Al-Amri, and M. Baz, “A survey on security threats and countermeasures in IoT to achieve users confidentiality and reliability ,” </a:t>
            </a:r>
            <a:r>
              <a:rPr i="1" lang="en-US" sz="1200">
                <a:latin typeface="Times New Roman"/>
                <a:ea typeface="Times New Roman"/>
                <a:cs typeface="Times New Roman"/>
                <a:sym typeface="Times New Roman"/>
              </a:rPr>
              <a:t>Materials Today: Proceedings</a:t>
            </a:r>
            <a:r>
              <a:rPr lang="en-US" sz="1200">
                <a:latin typeface="Times New Roman"/>
                <a:ea typeface="Times New Roman"/>
                <a:cs typeface="Times New Roman"/>
                <a:sym typeface="Times New Roman"/>
              </a:rPr>
              <a:t>, vol. 44, 2021, </a:t>
            </a:r>
            <a:r>
              <a:rPr lang="en-US"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https://doi.org/10.1016/j.matpr.2021.03.417</a:t>
            </a:r>
            <a:r>
              <a:rPr lang="en-US" sz="1200">
                <a:latin typeface="Times New Roman"/>
                <a:ea typeface="Times New Roman"/>
                <a:cs typeface="Times New Roman"/>
                <a:sym typeface="Times New Roman"/>
              </a:rPr>
              <a:t>.</a:t>
            </a:r>
            <a:endParaRPr sz="1200">
              <a:highlight>
                <a:srgbClr val="FFFFFF"/>
              </a:highlight>
              <a:latin typeface="Times New Roman"/>
              <a:ea typeface="Times New Roman"/>
              <a:cs typeface="Times New Roman"/>
              <a:sym typeface="Times New Roman"/>
            </a:endParaRPr>
          </a:p>
          <a:p>
            <a:pPr indent="0" lvl="0" marL="0" marR="0" rtl="0" algn="l">
              <a:lnSpc>
                <a:spcPct val="200000"/>
              </a:lnSpc>
              <a:spcBef>
                <a:spcPts val="0"/>
              </a:spcBef>
              <a:spcAft>
                <a:spcPts val="0"/>
              </a:spcAft>
              <a:buClr>
                <a:schemeClr val="dk1"/>
              </a:buClr>
              <a:buSzPts val="1100"/>
              <a:buFont typeface="Arial"/>
              <a:buNone/>
            </a:pPr>
            <a:r>
              <a:rPr lang="en-US" sz="1200">
                <a:highlight>
                  <a:srgbClr val="FFFFFF"/>
                </a:highlight>
                <a:latin typeface="Times New Roman"/>
                <a:ea typeface="Times New Roman"/>
                <a:cs typeface="Times New Roman"/>
                <a:sym typeface="Times New Roman"/>
              </a:rPr>
              <a:t>[6] </a:t>
            </a:r>
            <a:r>
              <a:rPr lang="en-US" sz="1200">
                <a:latin typeface="Times New Roman"/>
                <a:ea typeface="Times New Roman"/>
                <a:cs typeface="Times New Roman"/>
                <a:sym typeface="Times New Roman"/>
              </a:rPr>
              <a:t>A. Slonopas, “IoT Cybersecurity: Strengthening Defenses against Threats | American Public University,” </a:t>
            </a:r>
            <a:r>
              <a:rPr i="1" lang="en-US" sz="1200">
                <a:latin typeface="Times New Roman"/>
                <a:ea typeface="Times New Roman"/>
                <a:cs typeface="Times New Roman"/>
                <a:sym typeface="Times New Roman"/>
              </a:rPr>
              <a:t>www.apu.apus.edu</a:t>
            </a:r>
            <a:r>
              <a:rPr lang="en-US" sz="1200">
                <a:latin typeface="Times New Roman"/>
                <a:ea typeface="Times New Roman"/>
                <a:cs typeface="Times New Roman"/>
                <a:sym typeface="Times New Roman"/>
              </a:rPr>
              <a:t>. </a:t>
            </a:r>
            <a:r>
              <a:rPr lang="en-US" sz="12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https://www.apu.apus.edu/area-of-study/information-technology/resources/iot-cybersecurity-strengthening-defenses-against-threats</a:t>
            </a:r>
            <a:r>
              <a:rPr lang="en-US" sz="1100"/>
              <a:t> </a:t>
            </a:r>
            <a:r>
              <a:rPr lang="en-US" sz="1200">
                <a:latin typeface="Times New Roman"/>
                <a:ea typeface="Times New Roman"/>
                <a:cs typeface="Times New Roman"/>
                <a:sym typeface="Times New Roman"/>
              </a:rPr>
              <a:t>(accessed Nov. 13, 2025).</a:t>
            </a:r>
            <a:r>
              <a:rPr lang="en-US" sz="1100"/>
              <a:t> </a:t>
            </a:r>
            <a:endParaRPr sz="1200">
              <a:highlight>
                <a:srgbClr val="FFFFFF"/>
              </a:highlight>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