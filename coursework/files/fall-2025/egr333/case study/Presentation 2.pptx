
<file path=[Content_Types].xml><?xml version="1.0" encoding="utf-8"?>
<Types xmlns="http://schemas.openxmlformats.org/package/2006/content-types"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73" r:id="rId5"/>
    <p:sldId id="275" r:id="rId6"/>
    <p:sldId id="280" r:id="rId7"/>
    <p:sldId id="276" r:id="rId8"/>
    <p:sldId id="277" r:id="rId9"/>
    <p:sldId id="284" r:id="rId1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03B798-7FD5-478B-8E48-B3AD319DE719}" v="745" dt="2025-10-11T22:08:00.107"/>
    <p1510:client id="{ECBFBECB-9EB9-FF48-573C-BE28C95CDD50}" v="2" dt="2025-10-12T03:59:32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10/11/2025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3243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3130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E290-7AC2-F6BD-6596-DF54FD474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D2984-20B5-2779-298D-54E21C0B2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AAB37-5C76-60AB-6A56-C9949D725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74719-2850-4A0C-872B-A993548A5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05959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28C00-D101-DFF8-7E0A-1AEBF0DB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4B432-06C2-E932-E96F-67CECC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493B1-79A4-1FA9-B462-853856D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64F27-6C3B-1E36-B1DC-ECB72D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AI and Sentencing Criminals</a:t>
            </a:r>
            <a:endParaRPr lang="en-US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7660341" cy="3840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Anjelina Shutt, Dylan Waddell, Tyler Vander Mooren</a:t>
            </a:r>
            <a:endParaRPr lang="en-PK" dirty="0"/>
          </a:p>
        </p:txBody>
      </p:sp>
      <p:pic>
        <p:nvPicPr>
          <p:cNvPr id="62" name="Audio 61">
            <a:hlinkClick r:id="" action="ppaction://media"/>
            <a:extLst>
              <a:ext uri="{FF2B5EF4-FFF2-40B4-BE49-F238E27FC236}">
                <a16:creationId xmlns:a16="http://schemas.microsoft.com/office/drawing/2014/main" id="{A945D9D8-C75F-F207-3956-DEB2C649E1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382"/>
    </mc:Choice>
    <mc:Fallback>
      <p:transition spd="slow" advTm="533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50" y="1014805"/>
            <a:ext cx="7498080" cy="704088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Introduction to AI in Sentencing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AI and Sentencing Criminals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400" y="2953512"/>
            <a:ext cx="8180353" cy="35505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0" i="1" dirty="0">
                <a:ea typeface="+mn-lt"/>
                <a:cs typeface="+mn-lt"/>
              </a:rPr>
              <a:t>AI supports sentencing decisions by estimating</a:t>
            </a:r>
            <a:r>
              <a:rPr lang="en-US" sz="1600" b="0" i="1" dirty="0"/>
              <a:t> the likelihood a convicted person will reoffend and reviewing similar criminal cases to suggest outcomes</a:t>
            </a:r>
            <a:endParaRPr lang="en-US" sz="1600" b="0" i="1" dirty="0">
              <a:cs typeface="Arial"/>
            </a:endParaRPr>
          </a:p>
          <a:p>
            <a:r>
              <a:rPr lang="en-US" sz="2000" dirty="0">
                <a:ea typeface="+mn-lt"/>
                <a:cs typeface="+mn-lt"/>
              </a:rPr>
              <a:t>Judges incorporate AI recommendations alongside</a:t>
            </a:r>
          </a:p>
          <a:p>
            <a:pPr marL="285750" indent="-285750">
              <a:buChar char="•"/>
            </a:pPr>
            <a:r>
              <a:rPr lang="en-US" sz="1600" b="0" i="1" dirty="0"/>
              <a:t>The prosecutor and defense arguments</a:t>
            </a:r>
            <a:endParaRPr lang="en-US" sz="1600" b="0" i="1">
              <a:cs typeface="Arial"/>
            </a:endParaRPr>
          </a:p>
          <a:p>
            <a:pPr marL="285750" indent="-285750">
              <a:buChar char="•"/>
            </a:pPr>
            <a:r>
              <a:rPr lang="en-US" sz="1600" b="0" i="1" dirty="0"/>
              <a:t>The character of the convicted individual</a:t>
            </a:r>
            <a:endParaRPr lang="en-US" sz="1600" b="0" i="1">
              <a:cs typeface="Arial"/>
            </a:endParaRPr>
          </a:p>
          <a:p>
            <a:pPr marL="285750" indent="-285750">
              <a:buChar char="•"/>
            </a:pPr>
            <a:r>
              <a:rPr lang="en-US" sz="1600" b="0" i="1" dirty="0"/>
              <a:t>Any unusual circumstances in the case</a:t>
            </a:r>
            <a:endParaRPr lang="en-US" sz="1600" b="0" i="1">
              <a:cs typeface="Arial"/>
            </a:endParaRPr>
          </a:p>
          <a:p>
            <a:r>
              <a:rPr lang="en-US" sz="1600" i="1" dirty="0"/>
              <a:t>Advantages:</a:t>
            </a:r>
            <a:r>
              <a:rPr lang="en-US" sz="1600" b="0" i="1" dirty="0"/>
              <a:t> better consistency and reduced human bias</a:t>
            </a:r>
            <a:endParaRPr lang="en-US" sz="1600" b="0" i="1">
              <a:cs typeface="Arial"/>
            </a:endParaRPr>
          </a:p>
          <a:p>
            <a:r>
              <a:rPr lang="en-US" sz="1600" i="1" dirty="0"/>
              <a:t>Risks: </a:t>
            </a:r>
            <a:r>
              <a:rPr lang="en-US" sz="1600" b="0" i="1" dirty="0"/>
              <a:t>racial bias, oversimplification, reduced judicial discretion</a:t>
            </a:r>
            <a:endParaRPr lang="en-US" sz="1600" b="0" i="1">
              <a:cs typeface="Arial"/>
            </a:endParaRPr>
          </a:p>
          <a:p>
            <a:endParaRPr lang="en-US"/>
          </a:p>
          <a:p>
            <a:endParaRPr lang="en-US"/>
          </a:p>
        </p:txBody>
      </p:sp>
      <p:pic>
        <p:nvPicPr>
          <p:cNvPr id="42" name="Audio 41">
            <a:hlinkClick r:id="" action="ppaction://media"/>
            <a:extLst>
              <a:ext uri="{FF2B5EF4-FFF2-40B4-BE49-F238E27FC236}">
                <a16:creationId xmlns:a16="http://schemas.microsoft.com/office/drawing/2014/main" id="{00D6E96F-DA38-D8E3-6BC4-684D7B5430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703"/>
    </mc:Choice>
    <mc:Fallback>
      <p:transition spd="slow" advTm="847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2305549"/>
            <a:ext cx="4846320" cy="776232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Case Study</a:t>
            </a:r>
            <a:br>
              <a:rPr lang="en-US"/>
            </a:br>
            <a:endParaRPr lang="en-US">
              <a:cs typeface="Arial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and Sentencing Criminals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608970"/>
            <a:ext cx="4828032" cy="11211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Developing an AI system to help judges in sentencing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C050-0EBC-234C-AB93-E7868D85A2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dirty="0">
                <a:ea typeface="+mn-lt"/>
                <a:cs typeface="+mn-lt"/>
              </a:rPr>
              <a:t>Analyze characteristics of crimes and criminals</a:t>
            </a:r>
            <a:endParaRPr lang="en-US" dirty="0"/>
          </a:p>
          <a:p>
            <a:pPr marL="283210" indent="-283210"/>
            <a:r>
              <a:rPr lang="en-US" dirty="0">
                <a:ea typeface="+mn-lt"/>
                <a:cs typeface="+mn-lt"/>
              </a:rPr>
              <a:t>Identify similar past cases for review</a:t>
            </a:r>
            <a:endParaRPr lang="en-US" dirty="0"/>
          </a:p>
          <a:p>
            <a:pPr marL="283210" indent="-283210"/>
            <a:r>
              <a:rPr lang="en-US" dirty="0">
                <a:ea typeface="+mn-lt"/>
                <a:cs typeface="+mn-lt"/>
              </a:rPr>
              <a:t>Decide whether to display cases, recommend sentences, or both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3870-8786-7090-C9CF-E1E30DC7B9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Understand</a:t>
            </a:r>
            <a:endParaRPr lang="en-P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51C3F1-54D5-8F63-473C-F7876B8CE1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73908"/>
            <a:ext cx="4754880" cy="24250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>
                <a:ea typeface="+mn-lt"/>
                <a:cs typeface="+mn-lt"/>
              </a:rPr>
              <a:t>The input from judges and lawyers are still important due to experience and knowledge</a:t>
            </a:r>
          </a:p>
          <a:p>
            <a:pPr marL="283210" indent="-283210"/>
            <a:r>
              <a:rPr lang="en-US">
                <a:ea typeface="+mn-lt"/>
                <a:cs typeface="+mn-lt"/>
              </a:rPr>
              <a:t>Ordering of similar cases can affect perceptions</a:t>
            </a:r>
            <a:endParaRPr lang="en-US">
              <a:cs typeface="Arial"/>
            </a:endParaRPr>
          </a:p>
          <a:p>
            <a:pPr marL="283210" indent="-283210"/>
            <a:r>
              <a:rPr lang="en-US">
                <a:ea typeface="+mn-lt"/>
                <a:cs typeface="+mn-lt"/>
              </a:rPr>
              <a:t>System must comply with legal sentencing requirements</a:t>
            </a:r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 descr="A robot in a room&#10;&#10;AI-generated content may be incorrect.">
            <a:extLst>
              <a:ext uri="{FF2B5EF4-FFF2-40B4-BE49-F238E27FC236}">
                <a16:creationId xmlns:a16="http://schemas.microsoft.com/office/drawing/2014/main" id="{6D9042D5-FCFA-D0E5-2EE6-AEC3801BB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24" y="3203917"/>
            <a:ext cx="5416296" cy="3008376"/>
          </a:xfrm>
          <a:prstGeom prst="rect">
            <a:avLst/>
          </a:prstGeom>
        </p:spPr>
      </p:pic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64F485EB-89FC-9235-7FAC-F642AC27B4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278"/>
    </mc:Choice>
    <mc:Fallback>
      <p:transition spd="slow" advTm="502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C01-2837-2D71-254F-BAEEC66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366" y="1430196"/>
            <a:ext cx="10515600" cy="575321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Brainstorm</a:t>
            </a:r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ED6286-6851-6DDB-6D9B-9B02A607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and Sentencing Criminals 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83BE29-9226-E728-BAD0-B02DEAD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3C4BE-E1DD-7EED-DB71-4D5F3B63E6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702472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Stakeholders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68C84-B182-4E7D-56FB-01EE4B11DC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702472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Benefits</a:t>
            </a:r>
            <a:endParaRPr lang="en-US"/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F41ED-5729-1B31-0C04-21385523D7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5086" y="3112534"/>
            <a:ext cx="4218119" cy="8419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Judges, defendants, prosecutors, defense attorneys, society, software developers</a:t>
            </a:r>
            <a:endParaRPr lang="en-US">
              <a:cs typeface="Arial"/>
            </a:endParaRPr>
          </a:p>
          <a:p>
            <a:pPr marL="283210" indent="-283210"/>
            <a:endParaRPr lang="en-US"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0BD75-0796-C71E-07C4-224B63C0CE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3893" y="3151946"/>
            <a:ext cx="5124632" cy="8682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>
                <a:ea typeface="+mn-lt"/>
                <a:cs typeface="+mn-lt"/>
              </a:rPr>
              <a:t>Faster process and reduced human error or fatigue</a:t>
            </a:r>
            <a:endParaRPr lang="en-US">
              <a:cs typeface="Arial"/>
            </a:endParaRPr>
          </a:p>
          <a:p>
            <a:pPr marL="283210" indent="-283210"/>
            <a:r>
              <a:rPr lang="en-US">
                <a:ea typeface="+mn-lt"/>
                <a:cs typeface="+mn-lt"/>
              </a:rPr>
              <a:t>Better consistency in sentencing decisions</a:t>
            </a:r>
            <a:endParaRPr lang="en-US"/>
          </a:p>
          <a:p>
            <a:pPr marL="283210" indent="-283210"/>
            <a:endParaRPr lang="en-US">
              <a:cs typeface="Arial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D19CF26-448D-B6AF-4DAF-C151891009D6}"/>
              </a:ext>
            </a:extLst>
          </p:cNvPr>
          <p:cNvSpPr txBox="1">
            <a:spLocks/>
          </p:cNvSpPr>
          <p:nvPr/>
        </p:nvSpPr>
        <p:spPr>
          <a:xfrm>
            <a:off x="591417" y="4221217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Risks and Issues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D726C56-8908-CCAB-7EC3-CE3CF2B84B60}"/>
              </a:ext>
            </a:extLst>
          </p:cNvPr>
          <p:cNvSpPr txBox="1">
            <a:spLocks/>
          </p:cNvSpPr>
          <p:nvPr/>
        </p:nvSpPr>
        <p:spPr>
          <a:xfrm>
            <a:off x="6221021" y="4260631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Possible Actions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B88470D-08C2-3AA8-3758-054409122771}"/>
              </a:ext>
            </a:extLst>
          </p:cNvPr>
          <p:cNvSpPr txBox="1">
            <a:spLocks/>
          </p:cNvSpPr>
          <p:nvPr/>
        </p:nvSpPr>
        <p:spPr>
          <a:xfrm>
            <a:off x="301384" y="4690398"/>
            <a:ext cx="5249444" cy="152509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en-US">
                <a:ea typeface="+mn-lt"/>
                <a:cs typeface="+mn-lt"/>
              </a:rPr>
              <a:t>Racial bias in AI predictions</a:t>
            </a:r>
          </a:p>
          <a:p>
            <a:pPr marL="283210" indent="-283210"/>
            <a:r>
              <a:rPr lang="en-US">
                <a:ea typeface="+mn-lt"/>
                <a:cs typeface="+mn-lt"/>
              </a:rPr>
              <a:t>Over reliance on AI recommendations</a:t>
            </a:r>
          </a:p>
          <a:p>
            <a:pPr marL="283210" indent="-283210"/>
            <a:r>
              <a:rPr lang="en-US">
                <a:ea typeface="+mn-lt"/>
                <a:cs typeface="+mn-lt"/>
              </a:rPr>
              <a:t>Misinterpretation of case or sentencing patterns</a:t>
            </a:r>
          </a:p>
          <a:p>
            <a:pPr marL="283210" indent="-283210">
              <a:buFont typeface="Calibri" panose="020B0604020202020204" pitchFamily="34" charset="0"/>
              <a:buChar char="-"/>
            </a:pPr>
            <a:endParaRPr lang="en-US"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033314-2F81-D4DE-F240-415BC78202B3}"/>
              </a:ext>
            </a:extLst>
          </p:cNvPr>
          <p:cNvSpPr txBox="1"/>
          <p:nvPr/>
        </p:nvSpPr>
        <p:spPr>
          <a:xfrm>
            <a:off x="5925206" y="4690242"/>
            <a:ext cx="6096000" cy="11546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210" indent="-2832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System only allows AI to display similar cases, not a full interpretation of the case itself</a:t>
            </a:r>
          </a:p>
          <a:p>
            <a:pPr marL="283210" indent="-2832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AI provides case suggestions and recommended sentences</a:t>
            </a:r>
          </a:p>
        </p:txBody>
      </p:sp>
      <p:pic>
        <p:nvPicPr>
          <p:cNvPr id="40" name="Audio 39">
            <a:hlinkClick r:id="" action="ppaction://media"/>
            <a:extLst>
              <a:ext uri="{FF2B5EF4-FFF2-40B4-BE49-F238E27FC236}">
                <a16:creationId xmlns:a16="http://schemas.microsoft.com/office/drawing/2014/main" id="{9C9D512A-9F4A-C5F3-CF4B-1292F366D2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74647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676"/>
    </mc:Choice>
    <mc:Fallback>
      <p:transition spd="slow" advTm="596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Analysis</a:t>
            </a:r>
            <a:endParaRPr lang="en-US">
              <a:cs typeface="Arial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and Sentencing Criminals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F894F-23A1-85D4-2713-57D743F80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702472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Responsibilities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702472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Rights of Stakeholders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8225" y="3158515"/>
            <a:ext cx="5030777" cy="9076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Decision making must be fair and comply with the law</a:t>
            </a:r>
            <a:endParaRPr lang="en-US"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580" y="3191358"/>
            <a:ext cx="5805917" cy="881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dirty="0">
                <a:ea typeface="+mn-lt"/>
                <a:cs typeface="+mn-lt"/>
              </a:rPr>
              <a:t>Defendant's rights to a fair trial and unbiased sentencing</a:t>
            </a:r>
            <a:endParaRPr lang="en-US" dirty="0"/>
          </a:p>
          <a:p>
            <a:pPr marL="283210" indent="-283210"/>
            <a:r>
              <a:rPr lang="en-US" dirty="0">
                <a:ea typeface="+mn-lt"/>
                <a:cs typeface="+mn-lt"/>
              </a:rPr>
              <a:t>Judge's right to exercise discretion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8244815-EAC3-A084-83E1-758E84848158}"/>
              </a:ext>
            </a:extLst>
          </p:cNvPr>
          <p:cNvSpPr txBox="1">
            <a:spLocks/>
          </p:cNvSpPr>
          <p:nvPr/>
        </p:nvSpPr>
        <p:spPr>
          <a:xfrm>
            <a:off x="650538" y="4076700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Ethical Frameworks Applied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6BA24A9-41EB-C587-547D-36FF4A64C5D0}"/>
              </a:ext>
            </a:extLst>
          </p:cNvPr>
          <p:cNvSpPr txBox="1">
            <a:spLocks/>
          </p:cNvSpPr>
          <p:nvPr/>
        </p:nvSpPr>
        <p:spPr>
          <a:xfrm>
            <a:off x="6280141" y="4076700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Categorization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9E0C73C-3D57-E449-FC3C-65532812FED4}"/>
              </a:ext>
            </a:extLst>
          </p:cNvPr>
          <p:cNvSpPr txBox="1">
            <a:spLocks/>
          </p:cNvSpPr>
          <p:nvPr/>
        </p:nvSpPr>
        <p:spPr>
          <a:xfrm>
            <a:off x="367072" y="4440778"/>
            <a:ext cx="5523450" cy="16827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en-US">
                <a:ea typeface="+mn-lt"/>
                <a:cs typeface="+mn-lt"/>
              </a:rPr>
              <a:t>Kant: respect human dignity and avoid using individuals as a means to an end</a:t>
            </a:r>
          </a:p>
          <a:p>
            <a:pPr marL="283210" indent="-283210"/>
            <a:r>
              <a:rPr lang="en-US">
                <a:ea typeface="+mn-lt"/>
                <a:cs typeface="+mn-lt"/>
              </a:rPr>
              <a:t>Mill: maximize overall societal benefit</a:t>
            </a:r>
            <a:endParaRPr lang="en-US"/>
          </a:p>
          <a:p>
            <a:pPr marL="283210" indent="-283210"/>
            <a:r>
              <a:rPr lang="en-US">
                <a:ea typeface="+mn-lt"/>
                <a:cs typeface="+mn-lt"/>
              </a:rPr>
              <a:t>Rawls: ensure a fair and just system for all stakeholders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3DB05E9-63BD-4450-E4BF-8B67BCA4772B}"/>
              </a:ext>
            </a:extLst>
          </p:cNvPr>
          <p:cNvSpPr txBox="1">
            <a:spLocks/>
          </p:cNvSpPr>
          <p:nvPr/>
        </p:nvSpPr>
        <p:spPr>
          <a:xfrm>
            <a:off x="5990897" y="4440777"/>
            <a:ext cx="5293536" cy="15316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>
                <a:ea typeface="+mn-lt"/>
                <a:cs typeface="+mn-lt"/>
              </a:rPr>
              <a:t>Ethically Prohibited: allow AI to override human judgment</a:t>
            </a:r>
            <a:endParaRPr lang="en-US" dirty="0">
              <a:cs typeface="Arial"/>
            </a:endParaRPr>
          </a:p>
          <a:p>
            <a:pPr marL="283210" indent="-283210"/>
            <a:r>
              <a:rPr lang="en-US" dirty="0">
                <a:ea typeface="+mn-lt"/>
                <a:cs typeface="+mn-lt"/>
              </a:rPr>
              <a:t>Ethically Acceptable: AI displays cases and suggests sentences with judge discretion</a:t>
            </a:r>
            <a:endParaRPr lang="en-US" dirty="0"/>
          </a:p>
        </p:txBody>
      </p:sp>
      <p:pic>
        <p:nvPicPr>
          <p:cNvPr id="38" name="Audio 37">
            <a:hlinkClick r:id="" action="ppaction://media"/>
            <a:extLst>
              <a:ext uri="{FF2B5EF4-FFF2-40B4-BE49-F238E27FC236}">
                <a16:creationId xmlns:a16="http://schemas.microsoft.com/office/drawing/2014/main" id="{148840FF-5161-8DC8-01F3-820A6BBE15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557"/>
    </mc:Choice>
    <mc:Fallback>
      <p:transition spd="slow" advTm="935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23E89-5B68-D90F-7917-75200884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3F2C-D061-FFA6-F87C-BABFC90C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</p:spPr>
        <p:txBody>
          <a:bodyPr anchor="ctr">
            <a:normAutofit/>
          </a:bodyPr>
          <a:lstStyle/>
          <a:p>
            <a:r>
              <a:rPr lang="en-US" sz="3900"/>
              <a:t>CASE STUDY CONCLUSION</a:t>
            </a:r>
          </a:p>
          <a:p>
            <a:endParaRPr lang="en-US" sz="39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F1556E-B0D3-71EF-8ED4-9079C78C0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5096103" cy="329656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b="0" i="1"/>
              <a:t>AI can enhance sentencing decisions but cannot replace human judgment.</a:t>
            </a:r>
            <a:endParaRPr lang="en-US" sz="1500" i="1"/>
          </a:p>
          <a:p>
            <a:pPr>
              <a:lnSpc>
                <a:spcPct val="90000"/>
              </a:lnSpc>
            </a:pPr>
            <a:r>
              <a:rPr lang="en-US" sz="1500"/>
              <a:t>Ethical development requires</a:t>
            </a:r>
          </a:p>
          <a:p>
            <a:pPr marL="285750" indent="-285750">
              <a:lnSpc>
                <a:spcPct val="90000"/>
              </a:lnSpc>
              <a:buChar char="•"/>
            </a:pPr>
            <a:r>
              <a:rPr lang="en-US" sz="1500" b="0" i="1"/>
              <a:t>Compliance with laws and ethical codes</a:t>
            </a:r>
            <a:endParaRPr lang="en-US" sz="1500" i="1"/>
          </a:p>
          <a:p>
            <a:pPr marL="285750" indent="-285750">
              <a:lnSpc>
                <a:spcPct val="90000"/>
              </a:lnSpc>
              <a:buChar char="•"/>
            </a:pPr>
            <a:r>
              <a:rPr lang="en-US" sz="1500" b="0" i="1"/>
              <a:t>Continuous oversight to prevent bias</a:t>
            </a:r>
            <a:endParaRPr lang="en-US" sz="1500" i="1"/>
          </a:p>
          <a:p>
            <a:pPr marL="285750" indent="-285750">
              <a:lnSpc>
                <a:spcPct val="90000"/>
              </a:lnSpc>
              <a:buChar char="•"/>
            </a:pPr>
            <a:endParaRPr lang="en-US" sz="1500" b="0" i="1"/>
          </a:p>
          <a:p>
            <a:pPr>
              <a:lnSpc>
                <a:spcPct val="90000"/>
              </a:lnSpc>
            </a:pPr>
            <a:r>
              <a:rPr lang="en-US" sz="1500" i="1"/>
              <a:t>AI in sentencing criminals reduces bias, creates consistency, and supports judicial decision making without replacing it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4AA9E-A7FF-08CE-F90B-9BAFF87D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80" y="301752"/>
            <a:ext cx="1828800" cy="2743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/>
              <a:t>AI and Sentencing Criminals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BEA23-6369-32DD-777A-B5D044D1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2408" y="301752"/>
            <a:ext cx="1673352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7" name="Picture 6" descr="A cartoon of a person wearing a white helmet and a black tie&#10;&#10;AI-generated content may be incorrect.">
            <a:extLst>
              <a:ext uri="{FF2B5EF4-FFF2-40B4-BE49-F238E27FC236}">
                <a16:creationId xmlns:a16="http://schemas.microsoft.com/office/drawing/2014/main" id="{DBD77C5E-37E0-F613-2AA6-79E07FB9E1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039" r="23693" b="-3"/>
          <a:stretch>
            <a:fillRect/>
          </a:stretch>
        </p:blipFill>
        <p:spPr>
          <a:xfrm>
            <a:off x="7609179" y="2953512"/>
            <a:ext cx="2184044" cy="3296563"/>
          </a:xfrm>
          <a:prstGeom prst="rect">
            <a:avLst/>
          </a:prstGeom>
          <a:noFill/>
        </p:spPr>
      </p:pic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0F9B6BE1-CFFD-292B-503F-130EADB067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93427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278"/>
    </mc:Choice>
    <mc:Fallback>
      <p:transition spd="slow" advTm="242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2" id="{5D6FBA16-B4D1-4307-B1D7-61285FA0D9C0}" vid="{1DA9E459-46CB-4408-AA4C-63950E2E54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783CE7D-BFC6-4030-A335-E7F88DB6641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1F98F7-6576-47F1-AD63-56E26C339747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schemas.openxmlformats.org/package/2006/metadata/core-properties"/>
    <ds:schemaRef ds:uri="230e9df3-be65-4c73-a93b-d1236ebd677e"/>
    <ds:schemaRef ds:uri="http://www.w3.org/XML/1998/namespace"/>
    <ds:schemaRef ds:uri="16c05727-aa75-4e4a-9b5f-8a80a1165891"/>
    <ds:schemaRef ds:uri="http://purl.org/dc/dcmitype/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378</Words>
  <Application>Microsoft Office PowerPoint</Application>
  <PresentationFormat>Widescreen</PresentationFormat>
  <Paragraphs>66</Paragraphs>
  <Slides>6</Slides>
  <Notes>4</Notes>
  <HiddenSlides>0</HiddenSlides>
  <MMClips>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AI and Sentencing Criminals</vt:lpstr>
      <vt:lpstr>Introduction to AI in Sentencing</vt:lpstr>
      <vt:lpstr>Case Study </vt:lpstr>
      <vt:lpstr>Brainstorm</vt:lpstr>
      <vt:lpstr>Analysis</vt:lpstr>
      <vt:lpstr>CASE STUDY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Tyler James Vander Mooren</cp:lastModifiedBy>
  <cp:revision>88</cp:revision>
  <dcterms:created xsi:type="dcterms:W3CDTF">2025-10-11T15:08:32Z</dcterms:created>
  <dcterms:modified xsi:type="dcterms:W3CDTF">2025-10-12T05:16:46Z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